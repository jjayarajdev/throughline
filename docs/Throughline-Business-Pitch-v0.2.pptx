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yntegreti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457200"/>
            <a:ext cx="2194560" cy="8778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515600" y="1508760"/>
            <a:ext cx="1280160" cy="9144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15600" y="1673352"/>
            <a:ext cx="914400" cy="914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0" y="1837943"/>
            <a:ext cx="548640" cy="914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E87B"/>
                </a:solidFill>
                <a:latin typeface="Calibri"/>
              </a:rPr>
              <a:t>FOR GLOBAL CAPABILITY CENTERS  ·  v0.2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100584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Calibri"/>
              </a:rPr>
              <a:t>Throughline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The Recruitment Operating System for high-volume,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5196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multi-vendor enterprise hiring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749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B0B8CD"/>
                </a:solidFill>
                <a:latin typeface="Calibri"/>
              </a:rPr>
              <a:t>Partners  ·  Hiring  ·  Candidates  —  one platform, end to 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B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400800"/>
            <a:ext cx="7772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B0B8CD"/>
                </a:solidFill>
                <a:latin typeface="Calibri"/>
              </a:rPr>
              <a:t>Built for the way GCCs actually hire — multi-vendor, multi-role, audit-ready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40080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A84A0"/>
                </a:solidFill>
                <a:latin typeface="Calibri"/>
              </a:rPr>
              <a:t>a Syntegreti product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6080D"/>
                </a:solidFill>
                <a:latin typeface="Calibri"/>
              </a:rPr>
              <a:t>The GCC Hiring Reality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7A84A0"/>
                </a:solidFill>
                <a:latin typeface="Calibri"/>
              </a:rPr>
              <a:t>GCCs hire at scale across a fragmented vendor ecosystem — and pay the price in speed, cost and quality.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3703320" cy="201168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3703320" cy="64008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6080D"/>
                </a:solidFill>
                <a:latin typeface="Calibri"/>
              </a:rPr>
              <a:t>Fragmented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333756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ATS, vendor portals, spreadsheets and email do half the job each — nothing tells the full story.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057400"/>
            <a:ext cx="3703320" cy="201168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057400"/>
            <a:ext cx="3703320" cy="64008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6080D"/>
                </a:solidFill>
                <a:latin typeface="Calibri"/>
              </a:rPr>
              <a:t>Vendor sprawl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97480"/>
            <a:ext cx="333756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Dozens of partners, each with different SLAs, rate cards and contact matrices — no single source of truth.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057400"/>
            <a:ext cx="3703320" cy="201168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057400"/>
            <a:ext cx="3703320" cy="64008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240280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6080D"/>
                </a:solidFill>
                <a:latin typeface="Calibri"/>
              </a:rPr>
              <a:t>Slow time-to-hire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697480"/>
            <a:ext cx="333756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HRQs sit unallocated, slots go unbooked, candidates drop off — every day of delay is a competing offer.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160520"/>
            <a:ext cx="3703320" cy="201168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160520"/>
            <a:ext cx="3703320" cy="64008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43400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6080D"/>
                </a:solidFill>
                <a:latin typeface="Calibri"/>
              </a:rPr>
              <a:t>Weak 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00600"/>
            <a:ext cx="333756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No reliable audit trail of who approved what, when — painful at compliance / internal audit time.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4160520"/>
            <a:ext cx="3703320" cy="201168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4160520"/>
            <a:ext cx="3703320" cy="64008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343400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6080D"/>
                </a:solidFill>
                <a:latin typeface="Calibri"/>
              </a:rPr>
              <a:t>Limited visibility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800600"/>
            <a:ext cx="333756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Leadership has no live view of pipeline health, vendor performance or panel utilisation.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4160520"/>
            <a:ext cx="3703320" cy="201168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4160520"/>
            <a:ext cx="3703320" cy="64008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4343400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6080D"/>
                </a:solidFill>
                <a:latin typeface="Calibri"/>
              </a:rPr>
              <a:t>Onboarding gaps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00600"/>
            <a:ext cx="333756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BGV, asset allocation and training tracked in disconnected sheets — joiners slip through the cracks.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Recruitment OS for GCCs  ·  Syntegreti  ·  v0.2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6080D"/>
                </a:solidFill>
                <a:latin typeface="Calibri"/>
              </a:rPr>
              <a:t>Introducing Throughline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7A84A0"/>
                </a:solidFill>
                <a:latin typeface="Calibri"/>
              </a:rPr>
              <a:t>One platform that runs your entire recruitment operation.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3703320" cy="338328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3703320" cy="64008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67128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95728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Partner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3337560" cy="2377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06080D"/>
                </a:solidFill>
                <a:latin typeface="Calibri"/>
              </a:rPr>
              <a:t>Onboard, score and govern your full vendor network with empanelment, engagements, SOWs, rate cards and escalation matrices.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103120"/>
            <a:ext cx="3703320" cy="338328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103120"/>
            <a:ext cx="3703320" cy="6400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167128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HMS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95728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Hiring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71800"/>
            <a:ext cx="3337560" cy="2377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06080D"/>
                </a:solidFill>
                <a:latin typeface="Calibri"/>
              </a:rPr>
              <a:t>From requisition to offer — HRQs, panels, calibration, interview slots, structured feedback, automated re-routing and SLAs.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2103120"/>
            <a:ext cx="3703320" cy="338328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2103120"/>
            <a:ext cx="3703320" cy="6400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67128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395728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Candidate Lifecycle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971800"/>
            <a:ext cx="3337560" cy="2377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06080D"/>
                </a:solidFill>
                <a:latin typeface="Calibri"/>
              </a:rPr>
              <a:t>Cart / Bin pipelines, BGV tracking, training, asset allocation and post-joining profile tracker — all on one record.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E87B"/>
                </a:solidFill>
                <a:latin typeface="Calibri"/>
              </a:rPr>
              <a:t>One login. One pipeline. One audit trail.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Recruitment OS for GCCs  ·  Syntegreti  ·  v0.2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6080D"/>
                </a:solidFill>
                <a:latin typeface="Calibri"/>
              </a:rPr>
              <a:t>Built for Every Role in the Hiring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532120" cy="146304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91440" cy="146304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5257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TA / Hiring Leadership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5166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Live KPIs across vendors, requisitions, conversion and TAT — make budget and capacity calls with real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532120" cy="146304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91440" cy="14630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54480"/>
            <a:ext cx="5257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RM Owner / Vendor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65960"/>
            <a:ext cx="5166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Allocate HRQs, accept or reject within SLA, govern partners, approve SOWs, manage escalations.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17520"/>
            <a:ext cx="5532120" cy="146304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17520"/>
            <a:ext cx="91440" cy="146304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154680"/>
            <a:ext cx="5257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Hiring 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66160"/>
            <a:ext cx="5166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Raise requisitions, review shortlists, approve panels, watch the pipeline for their own openings.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017520"/>
            <a:ext cx="5532120" cy="146304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017520"/>
            <a:ext cx="91440" cy="14630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154680"/>
            <a:ext cx="5257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Recruitment Partner / Vendor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566160"/>
            <a:ext cx="5166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Self-serve portal — see assigned HRQs, submit candidates, book interview slots, track conversion.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617720"/>
            <a:ext cx="5532120" cy="146304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617720"/>
            <a:ext cx="91440" cy="146304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754880"/>
            <a:ext cx="5257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Interview Panel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166360"/>
            <a:ext cx="5166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Get scheduled invites, give structured feedback, participate in calibration sessions.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617720"/>
            <a:ext cx="5532120" cy="146304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617720"/>
            <a:ext cx="91440" cy="14630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54880"/>
            <a:ext cx="5257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Onboarding SPOC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166360"/>
            <a:ext cx="5166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Drive BGV, training, asset allocation and joining-date rescheduling on a single candidate record.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Recruitment OS for GCCs  ·  Syntegreti  ·  v0.2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6080D"/>
                </a:solidFill>
                <a:latin typeface="Calibri"/>
              </a:rPr>
              <a:t>Business Outcomes Throughline Drives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A84A0"/>
                </a:solidFill>
                <a:latin typeface="Calibri"/>
              </a:rPr>
              <a:t>Indicative impact based on workflows the platform automates today. Final benchmarks are calibrated to your baseline.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2697480" cy="182880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91440" cy="18288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24231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06080D"/>
                </a:solidFill>
                <a:latin typeface="Calibri"/>
              </a:rPr>
              <a:t>30–40%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A84A0"/>
                </a:solidFill>
                <a:latin typeface="Calibri"/>
              </a:rPr>
              <a:t>Faster time-to-hire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057400"/>
            <a:ext cx="2697480" cy="182880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2057400"/>
            <a:ext cx="91440" cy="18288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240280"/>
            <a:ext cx="24231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06080D"/>
                </a:solidFill>
                <a:latin typeface="Calibri"/>
              </a:rPr>
              <a:t>3×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10896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A84A0"/>
                </a:solidFill>
                <a:latin typeface="Calibri"/>
              </a:rPr>
              <a:t>Vendor visibility &amp; control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057400"/>
            <a:ext cx="2697480" cy="182880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057400"/>
            <a:ext cx="91440" cy="182880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240280"/>
            <a:ext cx="24231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06080D"/>
                </a:solidFill>
                <a:latin typeface="Calibri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10896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A84A0"/>
                </a:solidFill>
                <a:latin typeface="Calibri"/>
              </a:rPr>
              <a:t>Auditable approval trail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2057400"/>
            <a:ext cx="2697480" cy="182880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2057400"/>
            <a:ext cx="91440" cy="18288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2240280"/>
            <a:ext cx="24231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06080D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310896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A84A0"/>
                </a:solidFill>
                <a:latin typeface="Calibri"/>
              </a:rPr>
              <a:t>Single platform for HMS · PMS · CMS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What measurably improves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63440"/>
            <a:ext cx="1106424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E87B"/>
                </a:solidFill>
                <a:latin typeface="Calibri"/>
              </a:rPr>
              <a:t>▸  </a:t>
            </a:r>
            <a:r>
              <a:rPr sz="1300" b="1">
                <a:solidFill>
                  <a:srgbClr val="06080D"/>
                </a:solidFill>
                <a:latin typeface="Calibri"/>
              </a:rPr>
              <a:t>Vendor performance</a:t>
            </a:r>
            <a:r>
              <a:rPr sz="1300">
                <a:solidFill>
                  <a:srgbClr val="06080D"/>
                </a:solidFill>
                <a:latin typeface="Calibri"/>
              </a:rPr>
              <a:t> — leaderboards by submission, conversion, joiner ratio.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E87B"/>
                </a:solidFill>
                <a:latin typeface="Calibri"/>
              </a:rPr>
              <a:t>▸  </a:t>
            </a:r>
            <a:r>
              <a:rPr sz="1300" b="1">
                <a:solidFill>
                  <a:srgbClr val="06080D"/>
                </a:solidFill>
                <a:latin typeface="Calibri"/>
              </a:rPr>
              <a:t>HRQ aging</a:t>
            </a:r>
            <a:r>
              <a:rPr sz="1300">
                <a:solidFill>
                  <a:srgbClr val="06080D"/>
                </a:solidFill>
                <a:latin typeface="Calibri"/>
              </a:rPr>
              <a:t> — auto-reassignment when an RM Owner sits on a requisition.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E87B"/>
                </a:solidFill>
                <a:latin typeface="Calibri"/>
              </a:rPr>
              <a:t>▸  </a:t>
            </a:r>
            <a:r>
              <a:rPr sz="1300" b="1">
                <a:solidFill>
                  <a:srgbClr val="06080D"/>
                </a:solidFill>
                <a:latin typeface="Calibri"/>
              </a:rPr>
              <a:t>Slot utilisation</a:t>
            </a:r>
            <a:r>
              <a:rPr sz="1300">
                <a:solidFill>
                  <a:srgbClr val="06080D"/>
                </a:solidFill>
                <a:latin typeface="Calibri"/>
              </a:rPr>
              <a:t> — auto-expiry of unbooked slots, reducing dead capacity.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E87B"/>
                </a:solidFill>
                <a:latin typeface="Calibri"/>
              </a:rPr>
              <a:t>▸  </a:t>
            </a:r>
            <a:r>
              <a:rPr sz="1300" b="1">
                <a:solidFill>
                  <a:srgbClr val="06080D"/>
                </a:solidFill>
                <a:latin typeface="Calibri"/>
              </a:rPr>
              <a:t>Compliance posture</a:t>
            </a:r>
            <a:r>
              <a:rPr sz="1300">
                <a:solidFill>
                  <a:srgbClr val="06080D"/>
                </a:solidFill>
                <a:latin typeface="Calibri"/>
              </a:rPr>
              <a:t> — every state change recorded — BGV, joining, asset allocation.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Recruitment OS for GCCs  ·  Syntegreti  ·  v0.2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PILLAR 1 — PMS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6080D"/>
                </a:solidFill>
                <a:latin typeface="Calibri"/>
              </a:rPr>
              <a:t>Partner / Vendor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7A84A0"/>
                </a:solidFill>
                <a:latin typeface="Calibri"/>
              </a:rPr>
              <a:t>Run your vendor network like a portfolio.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109728" cy="64008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Onboarding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011680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Structured partner profiles, contact matrix and category / tier mapping.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24912"/>
            <a:ext cx="109728" cy="64008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24912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Empanelment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724912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Evaluation period, approval workflow and renewal — with full approval history.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38144"/>
            <a:ext cx="109728" cy="64008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38144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Engagements &amp; SOWs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438144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SOWs, change requests, rate cards and PO details — versioned.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51376"/>
            <a:ext cx="109728" cy="64008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51376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Escalation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151376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Codified escalation paths so issues never get stuck in one inbox.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64608"/>
            <a:ext cx="109728" cy="64008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64608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Auto-deactivation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864608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Inactive partners (no submissions in 30 days) flagged automatically.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577840"/>
            <a:ext cx="109728" cy="64008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77840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5577840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Submission rate, conversion rate, joiner-to-offer ratio per partner.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Recruitment OS for GCCs  ·  Syntegreti  ·  v0.2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PILLAR 2 — 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6080D"/>
                </a:solidFill>
                <a:latin typeface="Calibri"/>
              </a:rPr>
              <a:t>Hiring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7A84A0"/>
                </a:solidFill>
                <a:latin typeface="Calibri"/>
              </a:rPr>
              <a:t>Move requisitions from approval to offer with structure and SLAs.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109728" cy="6400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Requisitions (HRQs)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011680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Capture role, level, domain, location, panel — route through BET approval.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24912"/>
            <a:ext cx="109728" cy="6400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24912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Auto-allocation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724912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RM Owner receives HRQs; if not actioned within SLA, system reassigns.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38144"/>
            <a:ext cx="109728" cy="6400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38144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Interview rounds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438144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Configurable rounds per role / domain with criteria and weights.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51376"/>
            <a:ext cx="109728" cy="6400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51376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Panels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151376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Maintain panel rosters, history and availability per round.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64608"/>
            <a:ext cx="109728" cy="6400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64608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Calibration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864608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Calibration sessions to keep feedback consistent across panels.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577840"/>
            <a:ext cx="109728" cy="6400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77840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Slot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5577840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Vendors book against open slots; system expires stale slots automatically.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Recruitment OS for GCCs  ·  Syntegreti  ·  v0.2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PILLAR 3 — CMS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6080D"/>
                </a:solidFill>
                <a:latin typeface="Calibri"/>
              </a:rPr>
              <a:t>Candidate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7A84A0"/>
                </a:solidFill>
                <a:latin typeface="Calibri"/>
              </a:rPr>
              <a:t>One record from first submission to 90-day post-joining.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109728" cy="6400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Cart / Bin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011680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Approved candidates flow to cart; flagged candidates land in bin for review.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15184"/>
            <a:ext cx="109728" cy="6400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15184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Resume parsing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615184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DOCX and PDF parsed in-browser — no extra upload step.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18688"/>
            <a:ext cx="109728" cy="6400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18688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Background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218688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BGV status, vendor and dates tracked on the candidate record.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22192"/>
            <a:ext cx="109728" cy="6400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22192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Personal details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822192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Address, family, diversity and document upload in one place.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25696"/>
            <a:ext cx="109728" cy="6400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25696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Asset allocation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425696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Laptop, phone, ID card — issued and tracked against the joiner.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029200"/>
            <a:ext cx="109728" cy="6400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29200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Training &amp; profile tracker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5029200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Onboarding training records and 30/60/90-day profile progress.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632704"/>
            <a:ext cx="109728" cy="6400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632704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Joining reschedule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5632704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Joining-date changes captured with reason and full history.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Recruitment OS for GCCs  ·  Syntegreti  ·  v0.2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6080D"/>
                </a:solidFill>
                <a:latin typeface="Calibri"/>
              </a:rPr>
              <a:t>End-to-End — Requisition to Day-90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7A84A0"/>
                </a:solidFill>
                <a:latin typeface="Calibri"/>
              </a:rPr>
              <a:t>Eight stages. One platform. Zero context switches.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3153" y="2286000"/>
            <a:ext cx="1280160" cy="1280160"/>
          </a:xfrm>
          <a:prstGeom prst="round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3153" y="242316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3153" y="278892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Raise HRQ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3153" y="31546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Hiring Mgr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823313" y="2852928"/>
            <a:ext cx="123444" cy="146304"/>
          </a:xfrm>
          <a:prstGeom prst="rightArrow">
            <a:avLst/>
          </a:prstGeom>
          <a:solidFill>
            <a:srgbClr val="B0B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46757" y="2286000"/>
            <a:ext cx="1280160" cy="1280160"/>
          </a:xfrm>
          <a:prstGeom prst="round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46757" y="242316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6757" y="278892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BET Approval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46757" y="31546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BET Approver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226917" y="2852928"/>
            <a:ext cx="123444" cy="146304"/>
          </a:xfrm>
          <a:prstGeom prst="rightArrow">
            <a:avLst/>
          </a:prstGeom>
          <a:solidFill>
            <a:srgbClr val="B0B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50361" y="2286000"/>
            <a:ext cx="1280160" cy="128016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0361" y="242316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0361" y="278892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RM Owner Accept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0361" y="31546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RM Owner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630521" y="2852928"/>
            <a:ext cx="123444" cy="146304"/>
          </a:xfrm>
          <a:prstGeom prst="rightArrow">
            <a:avLst/>
          </a:prstGeom>
          <a:solidFill>
            <a:srgbClr val="B0B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753965" y="2286000"/>
            <a:ext cx="1280160" cy="128016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3965" y="242316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3965" y="278892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Vendor Allocation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3965" y="31546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Partner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034125" y="2852928"/>
            <a:ext cx="123444" cy="146304"/>
          </a:xfrm>
          <a:prstGeom prst="rightArrow">
            <a:avLst/>
          </a:prstGeom>
          <a:solidFill>
            <a:srgbClr val="B0B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57569" y="2286000"/>
            <a:ext cx="1280160" cy="128016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7569" y="242316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7569" y="278892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Slot &amp; Interview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57569" y="31546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Panel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437729" y="2852928"/>
            <a:ext cx="123444" cy="146304"/>
          </a:xfrm>
          <a:prstGeom prst="rightArrow">
            <a:avLst/>
          </a:prstGeom>
          <a:solidFill>
            <a:srgbClr val="B0B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561173" y="2286000"/>
            <a:ext cx="1280160" cy="1280160"/>
          </a:xfrm>
          <a:prstGeom prst="round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61173" y="242316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61173" y="278892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Feedback &amp; Offer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61173" y="31546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Hiring Mgr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8841333" y="2852928"/>
            <a:ext cx="123444" cy="146304"/>
          </a:xfrm>
          <a:prstGeom prst="rightArrow">
            <a:avLst/>
          </a:prstGeom>
          <a:solidFill>
            <a:srgbClr val="B0B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964777" y="2286000"/>
            <a:ext cx="1280160" cy="1280160"/>
          </a:xfrm>
          <a:prstGeom prst="round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4777" y="242316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4777" y="278892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BGV &amp; Onboarding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4777" y="31546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SPOC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10244937" y="2852928"/>
            <a:ext cx="123444" cy="146304"/>
          </a:xfrm>
          <a:prstGeom prst="rightArrow">
            <a:avLst/>
          </a:prstGeom>
          <a:solidFill>
            <a:srgbClr val="B0B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368381" y="2286000"/>
            <a:ext cx="1280160" cy="128016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68381" y="242316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68381" y="2788920"/>
            <a:ext cx="1280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Day-30/60/90 Tracker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68381" y="31546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TA Lead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Automated cross-cutting actions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572000"/>
            <a:ext cx="1106424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E87B"/>
                </a:solidFill>
                <a:latin typeface="Calibri"/>
              </a:rPr>
              <a:t>▸  </a:t>
            </a:r>
            <a:r>
              <a:rPr sz="1300" b="1">
                <a:solidFill>
                  <a:srgbClr val="06080D"/>
                </a:solidFill>
                <a:latin typeface="Calibri"/>
              </a:rPr>
              <a:t>Hourly</a:t>
            </a:r>
            <a:r>
              <a:rPr sz="1300">
                <a:solidFill>
                  <a:srgbClr val="06080D"/>
                </a:solidFill>
                <a:latin typeface="Calibri"/>
              </a:rPr>
              <a:t> — expire stale slots, drop candidates after 3 rejections, refresh slot counts.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E87B"/>
                </a:solidFill>
                <a:latin typeface="Calibri"/>
              </a:rPr>
              <a:t>▸  </a:t>
            </a:r>
            <a:r>
              <a:rPr sz="1300" b="1">
                <a:solidFill>
                  <a:srgbClr val="06080D"/>
                </a:solidFill>
                <a:latin typeface="Calibri"/>
              </a:rPr>
              <a:t>Daily</a:t>
            </a:r>
            <a:r>
              <a:rPr sz="1300">
                <a:solidFill>
                  <a:srgbClr val="06080D"/>
                </a:solidFill>
                <a:latin typeface="Calibri"/>
              </a:rPr>
              <a:t> — reassign aged HRQs, reject stale on-hold candidates, deactivate inactive partners, trigger escalations.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E87B"/>
                </a:solidFill>
                <a:latin typeface="Calibri"/>
              </a:rPr>
              <a:t>▸  </a:t>
            </a:r>
            <a:r>
              <a:rPr sz="1300" b="1">
                <a:solidFill>
                  <a:srgbClr val="06080D"/>
                </a:solidFill>
                <a:latin typeface="Calibri"/>
              </a:rPr>
              <a:t>Always</a:t>
            </a:r>
            <a:r>
              <a:rPr sz="1300">
                <a:solidFill>
                  <a:srgbClr val="06080D"/>
                </a:solidFill>
                <a:latin typeface="Calibri"/>
              </a:rPr>
              <a:t> — audit log of every state change · email notifications · role-based dashboards.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Recruitment OS for GCCs  ·  Syntegreti  ·  v0.2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VISIBILITY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6080D"/>
                </a:solidFill>
                <a:latin typeface="Calibri"/>
              </a:rPr>
              <a:t>Real-time Dashboards &amp;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7A84A0"/>
                </a:solidFill>
                <a:latin typeface="Calibri"/>
              </a:rPr>
              <a:t>Every role sees the data that matters to them — live, no exports.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2697480" cy="128016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91440" cy="128016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6080D"/>
                </a:solidFill>
                <a:latin typeface="Calibri"/>
              </a:rPr>
              <a:t>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A84A0"/>
                </a:solidFill>
                <a:latin typeface="Calibri"/>
              </a:rPr>
              <a:t>Active Partners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011680"/>
            <a:ext cx="2697480" cy="128016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2011680"/>
            <a:ext cx="91440" cy="128016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14884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6080D"/>
                </a:solidFill>
                <a:latin typeface="Calibri"/>
              </a:rPr>
              <a:t>128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78892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A84A0"/>
                </a:solidFill>
                <a:latin typeface="Calibri"/>
              </a:rPr>
              <a:t>Active HRQs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011680"/>
            <a:ext cx="2697480" cy="128016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011680"/>
            <a:ext cx="91440" cy="128016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6080D"/>
                </a:solidFill>
                <a:latin typeface="Calibri"/>
              </a:rPr>
              <a:t>612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78892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A84A0"/>
                </a:solidFill>
                <a:latin typeface="Calibri"/>
              </a:rPr>
              <a:t>Candidates in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2011680"/>
            <a:ext cx="2697480" cy="128016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2011680"/>
            <a:ext cx="91440" cy="12801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214884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6080D"/>
                </a:solidFill>
                <a:latin typeface="Calibri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78892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A84A0"/>
                </a:solidFill>
                <a:latin typeface="Calibri"/>
              </a:rPr>
              <a:t>Unassigned HRQs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20440"/>
            <a:ext cx="5486400" cy="246888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65760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6080D"/>
                </a:solidFill>
                <a:latin typeface="Calibri"/>
              </a:rPr>
              <a:t>Weekly Submissions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074920"/>
            <a:ext cx="502920" cy="6400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63040" y="4709160"/>
            <a:ext cx="502920" cy="100584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48840" y="4892040"/>
            <a:ext cx="502920" cy="82296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34640" y="4434840"/>
            <a:ext cx="502920" cy="128016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20440" y="4251960"/>
            <a:ext cx="502920" cy="146304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06240" y="4617720"/>
            <a:ext cx="502920" cy="10972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92040" y="4069080"/>
            <a:ext cx="502920" cy="164592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3520440"/>
            <a:ext cx="5349240" cy="246888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6576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6080D"/>
                </a:solidFill>
                <a:latin typeface="Calibri"/>
              </a:rPr>
              <a:t>Candidate Stage Mix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4297680"/>
            <a:ext cx="2221992" cy="5029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297680"/>
            <a:ext cx="2221992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14232" y="4297680"/>
            <a:ext cx="1481328" cy="50292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14232" y="4297680"/>
            <a:ext cx="1481328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95560" y="4297680"/>
            <a:ext cx="740664" cy="50292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936224" y="4297680"/>
            <a:ext cx="493776" cy="5029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92240" y="5248656"/>
            <a:ext cx="201168" cy="20116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0" y="521208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6080D"/>
                </a:solidFill>
                <a:latin typeface="Calibri"/>
              </a:rPr>
              <a:t>Sourced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26680" y="5248656"/>
            <a:ext cx="201168" cy="201168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01000" y="521208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6080D"/>
                </a:solidFill>
                <a:latin typeface="Calibri"/>
              </a:rPr>
              <a:t>In Interview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5248656"/>
            <a:ext cx="201168" cy="201168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521208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6080D"/>
                </a:solidFill>
                <a:latin typeface="Calibri"/>
              </a:rPr>
              <a:t>Offered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95560" y="5248656"/>
            <a:ext cx="201168" cy="20116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69880" y="521208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6080D"/>
                </a:solidFill>
                <a:latin typeface="Calibri"/>
              </a:rPr>
              <a:t>Joined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Recruitment OS for GCCs  ·  Syntegreti  ·  v0.2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6080D"/>
                </a:solidFill>
                <a:latin typeface="Calibri"/>
              </a:rPr>
              <a:t>Interview Operations at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7A84A0"/>
                </a:solidFill>
                <a:latin typeface="Calibri"/>
              </a:rPr>
              <a:t>The hardest part of GCC hiring is interview logistics. Throughline automates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109728" cy="6400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Slot pools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011680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Panels publish slots; vendors book against them; double-booking is impossible.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24912"/>
            <a:ext cx="109728" cy="6400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24912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Auto-expiry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724912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Unbooked slots expire after a configurable validity window — capacity isn't lost.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38144"/>
            <a:ext cx="109728" cy="6400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38144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Round configuration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438144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Different rounds per role / domain with weighted criteria.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51376"/>
            <a:ext cx="109728" cy="6400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51376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Structured 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151376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Feedback templates per round; aggregated automatically into a hire / no-hire view.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64608"/>
            <a:ext cx="109728" cy="6400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64608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Calibration sessions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864608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Run calibration so different panels score the same candidate consistently.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577840"/>
            <a:ext cx="109728" cy="6400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77840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Panel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5577840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Full record of who interviewed whom — useful for re-interviews and audits.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Recruitment OS for GCCs  ·  Syntegreti  ·  v0.2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6080D"/>
                </a:solidFill>
                <a:latin typeface="Calibri"/>
              </a:rPr>
              <a:t>Onboarding &amp; Post-Joining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7A84A0"/>
                </a:solidFill>
                <a:latin typeface="Calibri"/>
              </a:rPr>
              <a:t>Day 0 to Day 90 — every joiner ends on the right side of compliance.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109728" cy="6400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Background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011680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BGV vendor, status, dates and result tracked per candidate.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24912"/>
            <a:ext cx="109728" cy="6400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24912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Personal &amp; document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724912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Address, family, diversity data, ID documents — uploaded once.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38144"/>
            <a:ext cx="109728" cy="6400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38144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Asset allocation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438144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Laptop, phone, access cards issued and tracked.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51376"/>
            <a:ext cx="109728" cy="6400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51376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Training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151376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Onboarding sessions attended; gaps flagged automatically.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64608"/>
            <a:ext cx="109728" cy="6400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64608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Profile tracker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864608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30 / 60 / 90-day post-joining progress with reminders.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577840"/>
            <a:ext cx="109728" cy="6400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77840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Joining reschedule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5577840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Every change captured with reason — answers 'why did this offer slip?'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Recruitment OS for GCCs  ·  Syntegreti  ·  v0.2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6080D"/>
                </a:solidFill>
                <a:latin typeface="Calibri"/>
              </a:rPr>
              <a:t>Governance · Audit ·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7A84A0"/>
                </a:solidFill>
                <a:latin typeface="Calibri"/>
              </a:rPr>
              <a:t>Audit-ready by design — not a feature you switch 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532120" cy="219456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532120" cy="64008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6080D"/>
                </a:solidFill>
                <a:latin typeface="Calibri"/>
              </a:rPr>
              <a:t>Full audit trail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516636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06080D"/>
                </a:solidFill>
                <a:latin typeface="Calibri"/>
              </a:rPr>
              <a:t>Every state change — candidate, engagement, panel, bin, PO, joining — is recorded with who, when and why.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011680"/>
            <a:ext cx="5532120" cy="219456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011680"/>
            <a:ext cx="5532120" cy="64008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9456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6080D"/>
                </a:solidFill>
                <a:latin typeface="Calibri"/>
              </a:rPr>
              <a:t>Granular RBAC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743200"/>
            <a:ext cx="516636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06080D"/>
                </a:solidFill>
                <a:latin typeface="Calibri"/>
              </a:rPr>
              <a:t>Permission matrix at module × form level. Different roles, same screens, different powers.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5532120" cy="219456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5532120" cy="64008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52628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6080D"/>
                </a:solidFill>
                <a:latin typeface="Calibri"/>
              </a:rPr>
              <a:t>Approval workflows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74920"/>
            <a:ext cx="516636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06080D"/>
                </a:solidFill>
                <a:latin typeface="Calibri"/>
              </a:rPr>
              <a:t>BET approval, RM Owner accept, partner empanelment — each step gated and logged.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343400"/>
            <a:ext cx="5532120" cy="219456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4343400"/>
            <a:ext cx="5532120" cy="64008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52628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6080D"/>
                </a:solidFill>
                <a:latin typeface="Calibri"/>
              </a:rPr>
              <a:t>Configurable masters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074920"/>
            <a:ext cx="516636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06080D"/>
                </a:solidFill>
                <a:latin typeface="Calibri"/>
              </a:rPr>
              <a:t>Domains, skills, locations, levels, status codes — configurable without code changes.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Recruitment OS for GCCs  ·  Syntegreti  ·  v0.2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6080D"/>
                </a:solidFill>
                <a:latin typeface="Calibri"/>
              </a:rPr>
              <a:t>Security &amp; Enterprise Readiness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532120" cy="86868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73152" cy="8686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6080D"/>
                </a:solidFill>
                <a:latin typeface="Calibri"/>
              </a:rPr>
              <a:t>Single Sign-On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20"/>
            <a:ext cx="5257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6080D"/>
                </a:solidFill>
                <a:latin typeface="Calibri"/>
              </a:rPr>
              <a:t>SAML 2.0 (Okta), Azure AD and JWT — fits your existing identity stack.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532120" cy="86868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73152" cy="8686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6080D"/>
                </a:solidFill>
                <a:latin typeface="Calibri"/>
              </a:rPr>
              <a:t>Role-based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74520"/>
            <a:ext cx="5257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6080D"/>
                </a:solidFill>
                <a:latin typeface="Calibri"/>
              </a:rPr>
              <a:t>Permission matrix in the database; UI mirrors the same flags.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41448"/>
            <a:ext cx="5532120" cy="86868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441448"/>
            <a:ext cx="73152" cy="8686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532888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6080D"/>
                </a:solidFill>
                <a:latin typeface="Calibri"/>
              </a:rPr>
              <a:t>Cloud-native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852928"/>
            <a:ext cx="5257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6080D"/>
                </a:solidFill>
                <a:latin typeface="Calibri"/>
              </a:rPr>
              <a:t>Runs on Azure — SQL Database, Blob Storage, Functions, App Service.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441448"/>
            <a:ext cx="5532120" cy="86868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441448"/>
            <a:ext cx="73152" cy="8686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532888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6080D"/>
                </a:solidFill>
                <a:latin typeface="Calibri"/>
              </a:rPr>
              <a:t>Containerised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52928"/>
            <a:ext cx="5257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6080D"/>
                </a:solidFill>
                <a:latin typeface="Calibri"/>
              </a:rPr>
              <a:t>Multi-stage Docker image; deployable on any container host.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19856"/>
            <a:ext cx="5532120" cy="86868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419856"/>
            <a:ext cx="73152" cy="8686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511296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6080D"/>
                </a:solidFill>
                <a:latin typeface="Calibri"/>
              </a:rPr>
              <a:t>Observability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831336"/>
            <a:ext cx="5257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6080D"/>
                </a:solidFill>
                <a:latin typeface="Calibri"/>
              </a:rPr>
              <a:t>Structured logging with daily rolling files; per-request timing.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419856"/>
            <a:ext cx="5532120" cy="86868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419856"/>
            <a:ext cx="73152" cy="8686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511296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6080D"/>
                </a:solidFill>
                <a:latin typeface="Calibri"/>
              </a:rPr>
              <a:t>Email delegation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831336"/>
            <a:ext cx="5257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6080D"/>
                </a:solidFill>
                <a:latin typeface="Calibri"/>
              </a:rPr>
              <a:t>Outbound email through a serverless function — no SMTP credentials in app.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398264"/>
            <a:ext cx="5532120" cy="86868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398264"/>
            <a:ext cx="73152" cy="8686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489704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6080D"/>
                </a:solidFill>
                <a:latin typeface="Calibri"/>
              </a:rPr>
              <a:t>Open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809744"/>
            <a:ext cx="5257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6080D"/>
                </a:solidFill>
                <a:latin typeface="Calibri"/>
              </a:rPr>
              <a:t>Swagger / OpenAPI auto-published — easy to integrate with HRMS, BI, etc.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398264"/>
            <a:ext cx="5532120" cy="86868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398264"/>
            <a:ext cx="73152" cy="8686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489704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6080D"/>
                </a:solidFill>
                <a:latin typeface="Calibri"/>
              </a:rPr>
              <a:t>Data residency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809744"/>
            <a:ext cx="5257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6080D"/>
                </a:solidFill>
                <a:latin typeface="Calibri"/>
              </a:rPr>
              <a:t>Stays in your Azure tenant — your data, your geography.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Recruitment OS for GCCs  ·  Syntegreti  ·  v0.2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6080D"/>
                </a:solidFill>
                <a:latin typeface="Calibri"/>
              </a:rPr>
              <a:t>Why Throughline for a GCC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7A84A0"/>
                </a:solidFill>
                <a:latin typeface="Calibri"/>
              </a:rPr>
              <a:t>Not a generic ATS. Built around the realities of captive-centre hiring.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532120" cy="128016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91440" cy="128016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5257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Multi-vendor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51663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Empanelment, engagement, SOWs and escalation matrices are first-class — not bolt-ons.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011680"/>
            <a:ext cx="5532120" cy="128016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011680"/>
            <a:ext cx="91440" cy="128016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5257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Workflow-driven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560320"/>
            <a:ext cx="51663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BET approval, RM Owner ownership, calibration and escalations match how GCCs already operate.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29000"/>
            <a:ext cx="5532120" cy="128016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429000"/>
            <a:ext cx="91440" cy="128016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66160"/>
            <a:ext cx="5257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Audit-ready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77640"/>
            <a:ext cx="51663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Every change recorded — built for organisations that will be audited.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429000"/>
            <a:ext cx="5532120" cy="128016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429000"/>
            <a:ext cx="91440" cy="128016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566160"/>
            <a:ext cx="5257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Lifecycle, not just sourcing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977640"/>
            <a:ext cx="51663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Continues past offer into BGV, training, assets and 90-day tracking.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46320"/>
            <a:ext cx="5532120" cy="128016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846320"/>
            <a:ext cx="91440" cy="128016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983480"/>
            <a:ext cx="5257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Configurable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94960"/>
            <a:ext cx="51663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Masters, roles, slot rules, escalation paths — change without code.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846320"/>
            <a:ext cx="5532120" cy="128016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4846320"/>
            <a:ext cx="91440" cy="128016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983480"/>
            <a:ext cx="5257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Cloud-native, integrate-ready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394960"/>
            <a:ext cx="51663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Azure-native, OpenAPI-published — drops into your stack.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Recruitment OS for GCCs  ·  Syntegreti  ·  v0.2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6080D"/>
                </a:solidFill>
                <a:latin typeface="Calibri"/>
              </a:rPr>
              <a:t>Implementation &amp; Go-Live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7A84A0"/>
                </a:solidFill>
                <a:latin typeface="Calibri"/>
              </a:rPr>
              <a:t>A typical GCC rollout. Tunable to your scale and integrations.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2240280" cy="365760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2240280" cy="59436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1965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Week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1965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196596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Vendor list · approval matrix · masters · SLAs · integration map.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8648" y="2103120"/>
            <a:ext cx="2240280" cy="365760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98648" y="2103120"/>
            <a:ext cx="2240280" cy="59436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81528" y="2148840"/>
            <a:ext cx="1965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Week 3–4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8" y="2377440"/>
            <a:ext cx="1965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Configure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2880360"/>
            <a:ext cx="196596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Roles · permission matrix · escalation rules · email templates · slot rules.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48656" y="2103120"/>
            <a:ext cx="2240280" cy="365760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48656" y="2103120"/>
            <a:ext cx="2240280" cy="59436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1536" y="2148840"/>
            <a:ext cx="1965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Week 5–6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1536" y="2377440"/>
            <a:ext cx="1965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536" y="2880360"/>
            <a:ext cx="196596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1–2 domains live with a subset of vendors and a real HRQ funnel.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98664" y="2103120"/>
            <a:ext cx="2240280" cy="365760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98664" y="2103120"/>
            <a:ext cx="2240280" cy="59436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81544" y="2148840"/>
            <a:ext cx="1965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Week 7–8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81544" y="2377440"/>
            <a:ext cx="1965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Roll-out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1544" y="2880360"/>
            <a:ext cx="196596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Open to all domains and vendors · full reporting · onboarding flows.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48672" y="2103120"/>
            <a:ext cx="2240280" cy="365760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48672" y="2103120"/>
            <a:ext cx="2240280" cy="5943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31552" y="2148840"/>
            <a:ext cx="1965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Ongoing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31552" y="2377440"/>
            <a:ext cx="1965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Run &amp; Improve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31552" y="2880360"/>
            <a:ext cx="196596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Vendor scorecards · TAT tuning · new dashboards · integrations.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Recruitment OS for GCCs  ·  Syntegreti  ·  v0.2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6080D"/>
                </a:solidFill>
                <a:latin typeface="Calibri"/>
              </a:rPr>
              <a:t>Let's Run a 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7A84A0"/>
                </a:solidFill>
                <a:latin typeface="Calibri"/>
              </a:rPr>
              <a:t>We learn your data. You see the platform on it. Decision in 6 weeks.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2697480" cy="310896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2697480" cy="68580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67712"/>
            <a:ext cx="5486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0E87B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359152"/>
            <a:ext cx="1783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30-min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63240"/>
            <a:ext cx="233172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06080D"/>
                </a:solidFill>
                <a:latin typeface="Calibri"/>
              </a:rPr>
              <a:t>Walk through your current vendor list, approval matrix and pain points.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194560"/>
            <a:ext cx="2697480" cy="310896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2194560"/>
            <a:ext cx="2697480" cy="68580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267712"/>
            <a:ext cx="5486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0E87B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359152"/>
            <a:ext cx="1783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Tailored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063240"/>
            <a:ext cx="233172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06080D"/>
                </a:solidFill>
                <a:latin typeface="Calibri"/>
              </a:rPr>
              <a:t>Show Throughline on a sandbox configured to look like your environment.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194560"/>
            <a:ext cx="2697480" cy="310896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194560"/>
            <a:ext cx="2697480" cy="68580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267712"/>
            <a:ext cx="5486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0E87B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359152"/>
            <a:ext cx="1783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6-week 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063240"/>
            <a:ext cx="233172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06080D"/>
                </a:solidFill>
                <a:latin typeface="Calibri"/>
              </a:rPr>
              <a:t>Two domains, ten vendors, real HRQs — measure TAT and conversion uplift.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2194560"/>
            <a:ext cx="2697480" cy="310896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2194560"/>
            <a:ext cx="2697480" cy="68580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2267712"/>
            <a:ext cx="5486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0E87B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2359152"/>
            <a:ext cx="1783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Roll-out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3063240"/>
            <a:ext cx="233172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06080D"/>
                </a:solidFill>
                <a:latin typeface="Calibri"/>
              </a:rPr>
              <a:t>Pricing, integration plan and rollout calendar built off pilot results.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779008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Ready to start the conversation?  Let's set up a 30-min discovery this week.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Recruitment OS for GCCs  ·  Syntegreti  ·  v0.2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yntegreti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457200"/>
            <a:ext cx="2194560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194560"/>
            <a:ext cx="100584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00E87B"/>
                </a:solidFill>
                <a:latin typeface="Calibri"/>
              </a:rPr>
              <a:t>Throughline — built for the way GCCs actually hire.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E87B"/>
                </a:solidFill>
                <a:latin typeface="Calibri"/>
              </a:rPr>
              <a:t>CONTACT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37760"/>
            <a:ext cx="109728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00E87B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Set up a 30-minute discovery call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00E87B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Request a tailored demo on your vendor list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00E87B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Scope a 6-week pilot with measurable TAT goals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B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008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B0B8CD"/>
                </a:solidFill>
                <a:latin typeface="Calibri"/>
              </a:rPr>
              <a:t>Throughline  ·  a Syntegreti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A84A0"/>
                </a:solidFill>
                <a:latin typeface="Calibri"/>
              </a:rPr>
              <a:t>v0.2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
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20" y="640080"/>
            <a:ext cx="1463040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32720" y="914400"/>
            <a:ext cx="914400" cy="9144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8A07"/>
                </a:solidFill>
                <a:latin typeface="Calibri"/>
              </a:rPr>
              <a:t>TECHNICAL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058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EpiCenter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Enterprise Hiring &amp; Partner Management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FD8E3"/>
                </a:solidFill>
                <a:latin typeface="Calibri"/>
              </a:rPr>
              <a:t>.NET 8  ·  Next.js 15  ·  React 19  ·  Azure SQL  ·  SAML / JWT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7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008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HMS  ·  PMS  ·  CMS    Three sub-systems, one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What is EpiCenter?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6070"/>
                </a:solidFill>
                <a:latin typeface="Calibri"/>
              </a:rPr>
              <a:t>A centralized recruitment operating system that unifies three sub-systems.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657600" cy="32918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65760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Calibri"/>
              </a:rPr>
              <a:t>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Hiring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32004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B212C"/>
                </a:solidFill>
                <a:latin typeface="Calibri"/>
              </a:rPr>
              <a:t>Job requisitions (HRQs), interview rounds, panels, calibration, feedback.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3657600" cy="32918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03120"/>
            <a:ext cx="365760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48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Calibri"/>
              </a:rPr>
              <a:t>PMS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889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Partner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337560"/>
            <a:ext cx="32004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B212C"/>
                </a:solidFill>
                <a:latin typeface="Calibri"/>
              </a:rPr>
              <a:t>Vendor onboarding, empanelment, engagements, SOWs, escalation matrices.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103120"/>
            <a:ext cx="3657600" cy="32918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103120"/>
            <a:ext cx="365760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48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58A07"/>
                </a:solidFill>
                <a:latin typeface="Calibri"/>
              </a:rPr>
              <a:t>CMS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889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Candidate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337560"/>
            <a:ext cx="32004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B212C"/>
                </a:solidFill>
                <a:latin typeface="Calibri"/>
              </a:rPr>
              <a:t>Cart/Bin pipeline, BGV, training, asset allocation, post-joining tracking.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Calibri"/>
              </a:rPr>
              <a:t>Built for enterprise staffing with strict workflow, audit and RBAC requirements.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High-Level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20040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200400" cy="45720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UI-Epicenter-main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Next.js 15 + React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29260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TypeScript · Tailwind · shadcn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Zustand + React Query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Axios w/ JWT interceptor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828800"/>
            <a:ext cx="320040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1828800"/>
            <a:ext cx="32004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8745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EpiCenter-backend-main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231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ASP.NET Core 8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788920"/>
            <a:ext cx="29260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Clean Architecture, 287 .cs files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EF Core 8 + Dapper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JWT + SAML (Okta) + Azure 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828800"/>
            <a:ext cx="292608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1828800"/>
            <a:ext cx="2926080" cy="4572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87452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Azure Data Plane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4231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Azure SQL · Blob · Functions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88920"/>
            <a:ext cx="265176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Epicenterv2 SQL DB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Blob storage (SAS URL)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SendEmailFunction (Azure Fn)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0" y="2926080"/>
            <a:ext cx="822960" cy="0"/>
          </a:xfrm>
          <a:prstGeom prst="line">
            <a:avLst/>
          </a:prstGeom>
          <a:ln w="3175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86200" y="260604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6070"/>
                </a:solidFill>
                <a:latin typeface="Calibri"/>
              </a:rPr>
              <a:t>HTTPS · JWT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63840" y="2926080"/>
            <a:ext cx="822960" cy="0"/>
          </a:xfrm>
          <a:prstGeom prst="line">
            <a:avLst/>
          </a:prstGeom>
          <a:ln w="3175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09560" y="260604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6070"/>
                </a:solidFill>
                <a:latin typeface="Calibri"/>
              </a:rPr>
              <a:t>EF Core / Dapper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External integrations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46320"/>
            <a:ext cx="1828800" cy="38404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Okta SAML 2.0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599" y="4846320"/>
            <a:ext cx="1828800" cy="38404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Microsoft Graph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18" y="4846320"/>
            <a:ext cx="1828800" cy="38404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LDAP / 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37" y="4846320"/>
            <a:ext cx="1828800" cy="38404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MailKit SMTP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56" y="4846320"/>
            <a:ext cx="1828800" cy="38404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ClosedXML / EPPlus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12675" y="4846320"/>
            <a:ext cx="1828800" cy="38404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Serilog → 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Backend → Docker (multi-stage .NET 8) on Azure VM, GitHub Actions SSH deploy.    Frontend → PM2 on port 8080, typically behind Windows IIS reverse proxy.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2483"/>
                <a:gridCol w="7191757"/>
              </a:tblGrid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.NET 8 (LTS) — ASP.NET Core Web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Azure SQL Server  ·  Catalog: Epicenterv2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EF Core 8  +  Dapper 2.1  +  EFCore.BulkExtensions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JWT (HS256)  +  SAML 2.0 (Sustainsys / Okta)  +  Azure AD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AutoMapper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Logging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Serilog 9  ·  rolling daily file sinks  ·  Logs/requests-*.log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API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Swashbuckle / Swagger (/swagger)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MailKit  +  delegated Azure Function (SendEmailFunction)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Azure Blob Storage  ·  SAS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Office I/O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ClosedXML  ·  EPPlus 8 — Excel import/export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Identity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Microsoft Graph 5  ·  System.DirectoryServices (LDAP)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Project Structure — Clean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7498079" cy="4389120"/>
          </a:xfrm>
          <a:prstGeom prst="rect">
            <a:avLst/>
          </a:prstGeom>
          <a:solidFill>
            <a:srgbClr val="07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1323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EpiCenter-backend-main/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Controllers/         31 HTTP endpoints (resource-per-controller)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Application/         Services · DTOs · business orchestration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Domain/              59 entities — CMS · HMS · PMS · Masters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Infrastructure/      DbContext · repositories · LINQ queries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BackgroundServices/  Hourly · Daily · Email workers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Middleware/          ExceptionMiddleware · RequestLoggingMiddleware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Extensions/          DI · CORS · Serilog · AutoMapper wiring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└── Program.cs           Composition root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46304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33832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>
                <a:solidFill>
                  <a:srgbClr val="1B212C"/>
                </a:solidFill>
                <a:latin typeface="Calibri"/>
              </a:rPr>
              <a:t>287 C# source files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>
                <a:solidFill>
                  <a:srgbClr val="1B212C"/>
                </a:solidFill>
                <a:latin typeface="Calibri"/>
              </a:rPr>
              <a:t>Cleanly layered, repo + DI pattern throughout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>
                <a:solidFill>
                  <a:srgbClr val="1B212C"/>
                </a:solidFill>
                <a:latin typeface="Calibri"/>
              </a:rPr>
              <a:t>Domain split by sub-system, not by entity type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>
                <a:solidFill>
                  <a:srgbClr val="1B212C"/>
                </a:solidFill>
                <a:latin typeface="Calibri"/>
              </a:rPr>
              <a:t>Heavy *History entities — audit is first-class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>
                <a:solidFill>
                  <a:srgbClr val="1B212C"/>
                </a:solidFill>
                <a:latin typeface="Calibri"/>
              </a:rPr>
              <a:t>Not strict CQRS / DDD — pragmatic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31 Controllers — Grouped by Sub-system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532120" cy="38404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5389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Auth &amp;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440680" cy="81381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AuthController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UserController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532120" cy="384048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5389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Hiring (HMS)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20"/>
            <a:ext cx="5440680" cy="22768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HiringRequestController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JobDetailsController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InterviewRoundController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InterviewSlotController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CandidateFormController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CalibrationController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PanelController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25496"/>
            <a:ext cx="5532120" cy="384048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62072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Candidates (CMS)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82696"/>
            <a:ext cx="5440680" cy="22768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CandidateBinController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CandidateBgvController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CandidatePersonalDetailsController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AssetDetailsController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TrainingDetailsController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ProfileTrackerController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JoiningRescheduleHistoryController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4288536"/>
            <a:ext cx="5532120" cy="38404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325112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Partners (PMS)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745736"/>
            <a:ext cx="5440680" cy="22768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PartnerController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PartnerCategoryController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EmpanelmentController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EngagementController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ContactMatrixController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EscalationMatrixController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SOWController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696712"/>
            <a:ext cx="5532120" cy="384048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733288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153912"/>
            <a:ext cx="5440680" cy="22768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DashboardController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NotificationController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EmailTemplateController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MasterController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FileServerController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SearchColumnController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RCMSController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Domain Model — 59 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697480" cy="457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4572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5146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8A07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Candidate · CandidateHistory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8A07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CandidateBin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8A07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CandidatePersonalDetails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8A07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CandidateBgvDetails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8A07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AssetDetails · TrainingDetails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8A07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ProfileTracker · CandidateRateCard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8A07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InterviewSlot · InterviewActionLog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58A07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CandidateInterviewFeedBack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17320"/>
            <a:ext cx="2697480" cy="457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17320"/>
            <a:ext cx="2697480" cy="45720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46304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11680"/>
            <a:ext cx="25146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A3A1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HiringRequest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A3A1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JobDetails · InterviewRound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A3A1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Calibration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A3A1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Feedback · FeedbackDetail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A3A1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PanelHistory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A3A1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OnholdHiringRequest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2697480" cy="457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26974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5146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1F3A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Partner · PartnerCategory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1F3A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PartnerEmpanel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1F3A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Engagement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1F3A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ContactMatrix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1F3A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EscalationMatrix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1F3A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SOW · SOW_CR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1F3A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PODetail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417320"/>
            <a:ext cx="2697480" cy="457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417320"/>
            <a:ext cx="269748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46304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Masters / RBAC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011680"/>
            <a:ext cx="25146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556070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M_Country · State · City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556070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M_Domain · SubDomain · Skill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556070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M_JobLevel · MasterData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556070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M_Configuration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556070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M_Module · Form · RoleFormAccess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556070"/>
                </a:solidFill>
                <a:latin typeface="Calibri"/>
              </a:rPr>
              <a:t>▸  </a:t>
            </a:r>
            <a:r>
              <a:rPr sz="1100">
                <a:solidFill>
                  <a:srgbClr val="1B212C"/>
                </a:solidFill>
                <a:latin typeface="Calibri"/>
              </a:rPr>
              <a:t>Users · Role · UserRole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Calibri"/>
              </a:rPr>
              <a:t>Heavy use of *History entities means full audit trails are first-class.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Background Workers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657600" cy="4754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57600" cy="64008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EpiCenterHourlyService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Every hour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3832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Auto-expire interview slots past validity hours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Mark candidates as dropped after 3 rejections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Refresh interview slot 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657600" cy="4754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657600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72184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EpiCenterDailyService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78308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Once per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94560"/>
            <a:ext cx="33832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Detect inactive partners (no uploads 30d+)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Auto-deactivate partners w/ expired evaluation periods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Reassign HRQs to RM owner past acceptance threshold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Reject on-hold candidates exceeding hold duration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Trigger escalations on stalled requisitions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3657600" cy="4754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365760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72184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EpicenterEmailService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78308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Wired (currently disabled)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94560"/>
            <a:ext cx="33832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Workflow-driven outbound email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Templates editable via EmailTemplateController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Currently delegates send to Azure 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Cross-cutting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5321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 b="1">
                <a:solidFill>
                  <a:srgbClr val="1B212C"/>
                </a:solidFill>
                <a:latin typeface="Calibri"/>
              </a:rPr>
              <a:t>ExceptionMiddleware</a:t>
            </a:r>
            <a:r>
              <a:rPr sz="1400">
                <a:solidFill>
                  <a:srgbClr val="1B212C"/>
                </a:solidFill>
                <a:latin typeface="Calibri"/>
              </a:rPr>
              <a:t> — Global error handler · uniform ApiResponseDto&lt;T&gt; · logs full inner-exception chain via Serilog.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 b="1">
                <a:solidFill>
                  <a:srgbClr val="1B212C"/>
                </a:solidFill>
                <a:latin typeface="Calibri"/>
              </a:rPr>
              <a:t>RequestLoggingMiddleware</a:t>
            </a:r>
            <a:r>
              <a:rPr sz="1400">
                <a:solidFill>
                  <a:srgbClr val="1B212C"/>
                </a:solidFill>
                <a:latin typeface="Calibri"/>
              </a:rPr>
              <a:t> — Per-request timing &amp; correlation through the pipeline.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 b="1">
                <a:solidFill>
                  <a:srgbClr val="1B212C"/>
                </a:solidFill>
                <a:latin typeface="Calibri"/>
              </a:rPr>
              <a:t>Serilog</a:t>
            </a:r>
            <a:r>
              <a:rPr sz="1400">
                <a:solidFill>
                  <a:srgbClr val="1B212C"/>
                </a:solidFill>
                <a:latin typeface="Calibri"/>
              </a:rPr>
              <a:t> — Structured logs to Logs/requests-*.log, daily rolling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5321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 b="1">
                <a:solidFill>
                  <a:srgbClr val="1B212C"/>
                </a:solidFill>
                <a:latin typeface="Calibri"/>
              </a:rPr>
              <a:t>JWT Validation</a:t>
            </a:r>
            <a:r>
              <a:rPr sz="1400">
                <a:solidFill>
                  <a:srgbClr val="1B212C"/>
                </a:solidFill>
                <a:latin typeface="Calibri"/>
              </a:rPr>
              <a:t> — Issuer · audience · lifetime · signing key all enforced.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 b="1">
                <a:solidFill>
                  <a:srgbClr val="1B212C"/>
                </a:solidFill>
                <a:latin typeface="Calibri"/>
              </a:rPr>
              <a:t>CORS</a:t>
            </a:r>
            <a:r>
              <a:rPr sz="1400">
                <a:solidFill>
                  <a:srgbClr val="1B212C"/>
                </a:solidFill>
                <a:latin typeface="Calibri"/>
              </a:rPr>
              <a:t> — Permissive — AnyOrigin / AnyMethod / AnyHeader + credentials. Tighten per env.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 b="1">
                <a:solidFill>
                  <a:srgbClr val="1B212C"/>
                </a:solidFill>
                <a:latin typeface="Calibri"/>
              </a:rPr>
              <a:t>Swagger</a:t>
            </a:r>
            <a:r>
              <a:rPr sz="1400">
                <a:solidFill>
                  <a:srgbClr val="1B212C"/>
                </a:solidFill>
                <a:latin typeface="Calibri"/>
              </a:rPr>
              <a:t> — Auto-generated OpenAPI from XML doc comments on controllers.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Build &amp;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7498079" cy="4389120"/>
          </a:xfrm>
          <a:prstGeom prst="rect">
            <a:avLst/>
          </a:prstGeom>
          <a:solidFill>
            <a:srgbClr val="07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1323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# Multi-stage Docker build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FROM mcr.microsoft.com/dotnet/sdk:8.0    AS build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FROM mcr.microsoft.com/dotnet/aspnet:8.0 AS runtime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EXPOSE 8080  8081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ENTRYPOINT ["dotnet", "EpicenterX.dll"]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# .github/workflows/deploy_backend.yml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on: { push: { branches: [master, Development] } }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deploy: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- SSH key from secrets → Azure VM 52.159.149.78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- master       → ~/dbackend.sh             (production)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- Development  → ~/development_backend.sh  (dev)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46304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33832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>
                <a:solidFill>
                  <a:srgbClr val="1B212C"/>
                </a:solidFill>
                <a:latin typeface="Calibri"/>
              </a:rPr>
              <a:t>Multi-stage build keeps runtime image small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>
                <a:solidFill>
                  <a:srgbClr val="1B212C"/>
                </a:solidFill>
                <a:latin typeface="Calibri"/>
              </a:rPr>
              <a:t>Two long-lived branches: master + Development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>
                <a:solidFill>
                  <a:srgbClr val="1B212C"/>
                </a:solidFill>
                <a:latin typeface="Calibri"/>
              </a:rPr>
              <a:t>Secrets via .NET User Secrets locally; appsettings overrides in prod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>
                <a:solidFill>
                  <a:srgbClr val="1B212C"/>
                </a:solidFill>
                <a:latin typeface="Calibri"/>
              </a:rPr>
              <a:t>Future: move secrets to Azure Key Vault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2483"/>
                <a:gridCol w="7191757"/>
              </a:tblGrid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Next.js 15.2 (App Router · Turbopack)  on  React 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TypeScript 5 — strict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UI Kit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shadcn/ui on Radix  +  Tailwind CSS 4  +  Lucide icons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Client State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Zustand 5 — persisted to sessionStorage (key: hp-storage)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Server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TanStack React Query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HTTP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Axios — interceptors inject JWT, handle 401 / 5xx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Forms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React Hook Form 7  +  Zod 3  +  @hookform/resolvers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Tables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TanStack Table 8  +  react-window virtualization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Recharts  +  react-gauge-chart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Files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mammoth (DOCX)  ·  react-pdftotext  ·  xlsx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B1F3A"/>
                          </a:solidFill>
                          <a:latin typeface="Calibri"/>
                        </a:rPr>
                        <a:t>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1B212C"/>
                          </a:solidFill>
                          <a:latin typeface="Calibri"/>
                        </a:rPr>
                        <a:t>Sonner toasts  ·  next-themes  ·  Lottie  ·  react-day-picker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App Router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solidFill>
            <a:srgbClr val="07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/                              Login (Zod-validated)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/unauthorized                  403 page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/panel-feedback/[id]           Standalone interview-feedback form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/home/                         Authenticated shell (sidebar + header)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dashboard                 KPIs · charts · role-filtered views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partner-onboarding        Add / edit partner · [profile]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partner-engagement        Performance tracking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partner-podetails         PO details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(hiring-management)/...   HRQs · review requests · details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candidate-management      Create / edit / profile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candidate-approval        Cart / Bin approval flows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candidate-onboarding      Post-hire workflows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candidate-feedback-review Interview feedback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(interview-slot)/slot-management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application-roles  /  master   Admin &amp; master data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└─ edit-profile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Feature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Active partners / candidates / HRQs · weekly submission bars · candidate-stage pie · interview KPIs · views differ per role.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Cart / Bin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8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Approved candidates → cart; rejected/flagged → bin with re-evaluation 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Hiring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10128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Create → BET Approver → RM Owner accept → Slot allocation → Submission → Feedback → Hire.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94760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Resume parsing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87368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Client-side DOCX extraction (mammoth) and PDF (react-pdftotext).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109728" cy="64008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Slot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64608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B212C"/>
                </a:solidFill>
                <a:latin typeface="Calibri"/>
              </a:rPr>
              <a:t>Partner self-service + admin allocation with conflict detection.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State · Auth ·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657600" cy="457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65760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7048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Stores (Zustand)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3832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userStore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useHiringStore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useCandidateStore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useCandidateOnboarding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userPartnerStore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B1F3A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Persisted in sessionStorage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3657600" cy="457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657600" cy="502920"/>
          </a:xfrm>
          <a:prstGeom prst="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27048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Auth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33832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POST /Auth/login (email + password)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Zod schema validates form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Response → token + roles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Saved to userStore + cookies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redirectBasedOnRole() routes user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A3A1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Roles: Admin · RM Owner · Partner · 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657600" cy="4572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657600" cy="50292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27048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API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03120"/>
            <a:ext cx="33832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/src/services/api/*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hiring · candidate · partner · slot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onboarding · user · master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Base URL = NEXT_PUBLIC_API_BASE_URL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Axios interceptor: JWT bearer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F58A07"/>
                </a:solidFill>
                <a:latin typeface="Calibri"/>
              </a:rPr>
              <a:t>▸  </a:t>
            </a:r>
            <a:r>
              <a:rPr sz="1200">
                <a:solidFill>
                  <a:srgbClr val="1B212C"/>
                </a:solidFill>
                <a:latin typeface="Calibri"/>
              </a:rPr>
              <a:t>Centralized 401 / 5xx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Calibri"/>
              </a:rPr>
              <a:t>Permission flags (isHiringCreate, isHiringEdit, isShowslotAllocation, …) gate the UI per role.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Components &amp;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7498079" cy="3657600"/>
          </a:xfrm>
          <a:prstGeom prst="rect">
            <a:avLst/>
          </a:prstGeom>
          <a:solidFill>
            <a:srgbClr val="07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13231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src/components/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ui/              34 shadcn primitives (Radix-based)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layout/          AppHeader · AppSidebar · UserRoles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dashboard/       DashboardDemo · skeletons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hiring-forms/    HiringForm · HiringTable · CartTable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candidate/       Profile · CartTable · BinTable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partner-form/  partner-profile/  onboarding/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slot-management/ form-fields/  common/  error/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└── providers.tsx    Query · Theme · Sidebar providers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46304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~206 component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338328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>
                <a:solidFill>
                  <a:srgbClr val="1B212C"/>
                </a:solidFill>
                <a:latin typeface="Calibri"/>
              </a:rPr>
              <a:t>Feature-folder layout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>
                <a:solidFill>
                  <a:srgbClr val="1B212C"/>
                </a:solidFill>
                <a:latin typeface="Calibri"/>
              </a:rPr>
              <a:t>Reusable form-fields module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>
                <a:solidFill>
                  <a:srgbClr val="1B212C"/>
                </a:solidFill>
                <a:latin typeface="Calibri"/>
              </a:rPr>
              <a:t>Skeletons + error boundaries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>
                <a:solidFill>
                  <a:srgbClr val="1B212C"/>
                </a:solidFill>
                <a:latin typeface="Calibri"/>
              </a:rPr>
              <a:t>Shared common/ utilities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Build &amp; Deploy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15000"/>
            <a:ext cx="2194560" cy="384048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npm run dev (turbopack)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5715000"/>
            <a:ext cx="2194560" cy="384048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npm run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5715000"/>
            <a:ext cx="2194560" cy="384048"/>
          </a:xfrm>
          <a:prstGeom prst="roundRect">
            <a:avLst/>
          </a:prstGeom>
          <a:solidFill>
            <a:srgbClr val="00A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npm start :8080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5715000"/>
            <a:ext cx="2194560" cy="384048"/>
          </a:xfrm>
          <a:prstGeom prst="round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PM2 (start_epicenter.json)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5715000"/>
            <a:ext cx="2194560" cy="384048"/>
          </a:xfrm>
          <a:prstGeom prst="round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Behind Windows IIS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Security Posture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532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A3A1"/>
                </a:solidFill>
                <a:latin typeface="Calibri"/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53212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A3A1"/>
                </a:solidFill>
                <a:latin typeface="Calibri"/>
              </a:rPr>
              <a:t>▸  </a:t>
            </a:r>
            <a:r>
              <a:rPr sz="1300" b="1">
                <a:solidFill>
                  <a:srgbClr val="1B212C"/>
                </a:solidFill>
                <a:latin typeface="Calibri"/>
              </a:rPr>
              <a:t>Authentication</a:t>
            </a:r>
            <a:r>
              <a:rPr sz="1300">
                <a:solidFill>
                  <a:srgbClr val="1B212C"/>
                </a:solidFill>
                <a:latin typeface="Calibri"/>
              </a:rPr>
              <a:t> — JWT bearer (HS256) — issuer/audience/lifetime/signature all validated. Optional SAML 2.0 SSO via Okta and Azure AD support.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A3A1"/>
                </a:solidFill>
                <a:latin typeface="Calibri"/>
              </a:rPr>
              <a:t>▸  </a:t>
            </a:r>
            <a:r>
              <a:rPr sz="1300" b="1">
                <a:solidFill>
                  <a:srgbClr val="1B212C"/>
                </a:solidFill>
                <a:latin typeface="Calibri"/>
              </a:rPr>
              <a:t>Authorization</a:t>
            </a:r>
            <a:r>
              <a:rPr sz="1300">
                <a:solidFill>
                  <a:srgbClr val="1B212C"/>
                </a:solidFill>
                <a:latin typeface="Calibri"/>
              </a:rPr>
              <a:t> — RBAC matrix in DB — M_Module · M_Form · M_RoleFormAccess. UI mirrors the same flags per role.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A3A1"/>
                </a:solidFill>
                <a:latin typeface="Calibri"/>
              </a:rPr>
              <a:t>▸  </a:t>
            </a:r>
            <a:r>
              <a:rPr sz="1300" b="1">
                <a:solidFill>
                  <a:srgbClr val="1B212C"/>
                </a:solidFill>
                <a:latin typeface="Calibri"/>
              </a:rPr>
              <a:t>Audit</a:t>
            </a:r>
            <a:r>
              <a:rPr sz="1300">
                <a:solidFill>
                  <a:srgbClr val="1B212C"/>
                </a:solidFill>
                <a:latin typeface="Calibri"/>
              </a:rPr>
              <a:t> — *History entities track candidate, engagement, panel, bin, PO, joining-reschedule changes.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A3A1"/>
                </a:solidFill>
                <a:latin typeface="Calibri"/>
              </a:rPr>
              <a:t>▸  </a:t>
            </a:r>
            <a:r>
              <a:rPr sz="1300" b="1">
                <a:solidFill>
                  <a:srgbClr val="1B212C"/>
                </a:solidFill>
                <a:latin typeface="Calibri"/>
              </a:rPr>
              <a:t>Transport</a:t>
            </a:r>
            <a:r>
              <a:rPr sz="1300">
                <a:solidFill>
                  <a:srgbClr val="1B212C"/>
                </a:solidFill>
                <a:latin typeface="Calibri"/>
              </a:rPr>
              <a:t> — HTTPS enforced. Sensitive config via .NET User Secrets locally.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417320"/>
            <a:ext cx="5532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8A07"/>
                </a:solidFill>
                <a:latin typeface="Calibri"/>
              </a:rPr>
              <a:t>Items to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553212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 b="1">
                <a:solidFill>
                  <a:srgbClr val="1B212C"/>
                </a:solidFill>
                <a:latin typeface="Calibri"/>
              </a:rPr>
              <a:t>CORS</a:t>
            </a:r>
            <a:r>
              <a:rPr sz="1300">
                <a:solidFill>
                  <a:srgbClr val="1B212C"/>
                </a:solidFill>
                <a:latin typeface="Calibri"/>
              </a:rPr>
              <a:t> — Currently AnyOrigin + credentials — tighten per environment.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 b="1">
                <a:solidFill>
                  <a:srgbClr val="1B212C"/>
                </a:solidFill>
                <a:latin typeface="Calibri"/>
              </a:rPr>
              <a:t>Build hygiene</a:t>
            </a:r>
            <a:r>
              <a:rPr sz="1300">
                <a:solidFill>
                  <a:srgbClr val="1B212C"/>
                </a:solidFill>
                <a:latin typeface="Calibri"/>
              </a:rPr>
              <a:t> — next.config.ts ignores TypeScript errors during build — re-enable in CI.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 b="1">
                <a:solidFill>
                  <a:srgbClr val="1B212C"/>
                </a:solidFill>
                <a:latin typeface="Calibri"/>
              </a:rPr>
              <a:t>Email service</a:t>
            </a:r>
            <a:r>
              <a:rPr sz="1300">
                <a:solidFill>
                  <a:srgbClr val="1B212C"/>
                </a:solidFill>
                <a:latin typeface="Calibri"/>
              </a:rPr>
              <a:t> — EpicenterEmailService is wired but commented out — re-enable after template QA.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8A07"/>
                </a:solidFill>
                <a:latin typeface="Calibri"/>
              </a:rPr>
              <a:t>▸  </a:t>
            </a:r>
            <a:r>
              <a:rPr sz="1300" b="1">
                <a:solidFill>
                  <a:srgbClr val="1B212C"/>
                </a:solidFill>
                <a:latin typeface="Calibri"/>
              </a:rPr>
              <a:t>Secrets</a:t>
            </a:r>
            <a:r>
              <a:rPr sz="1300">
                <a:solidFill>
                  <a:srgbClr val="1B212C"/>
                </a:solidFill>
                <a:latin typeface="Calibri"/>
              </a:rPr>
              <a:t> — Move from appsettings.Production.json to Azure Key Vault.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Calibr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Roadmap &amp; Talking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5321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 b="1">
                <a:solidFill>
                  <a:srgbClr val="1B212C"/>
                </a:solidFill>
                <a:latin typeface="Calibri"/>
              </a:rPr>
              <a:t>Tighten CORS</a:t>
            </a:r>
            <a:r>
              <a:rPr sz="1400">
                <a:solidFill>
                  <a:srgbClr val="1B212C"/>
                </a:solidFill>
                <a:latin typeface="Calibri"/>
              </a:rPr>
              <a:t> — Per-environment allow-list instead of AnyOrigin.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 b="1">
                <a:solidFill>
                  <a:srgbClr val="1B212C"/>
                </a:solidFill>
                <a:latin typeface="Calibri"/>
              </a:rPr>
              <a:t>Re-enable email worker</a:t>
            </a:r>
            <a:r>
              <a:rPr sz="1400">
                <a:solidFill>
                  <a:srgbClr val="1B212C"/>
                </a:solidFill>
                <a:latin typeface="Calibri"/>
              </a:rPr>
              <a:t> — Once template QA is complete.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 b="1">
                <a:solidFill>
                  <a:srgbClr val="1B212C"/>
                </a:solidFill>
                <a:latin typeface="Calibri"/>
              </a:rPr>
              <a:t>Re-enable Next.js type-check</a:t>
            </a:r>
            <a:r>
              <a:rPr sz="1400">
                <a:solidFill>
                  <a:srgbClr val="1B212C"/>
                </a:solidFill>
                <a:latin typeface="Calibri"/>
              </a:rPr>
              <a:t> — Stop suppressing build-time TS errors in CI.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5321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 b="1">
                <a:solidFill>
                  <a:srgbClr val="1B212C"/>
                </a:solidFill>
                <a:latin typeface="Calibri"/>
              </a:rPr>
              <a:t>Secrets to Key Vault</a:t>
            </a:r>
            <a:r>
              <a:rPr sz="1400">
                <a:solidFill>
                  <a:srgbClr val="1B212C"/>
                </a:solidFill>
                <a:latin typeface="Calibri"/>
              </a:rPr>
              <a:t> — Move appsettings secrets to Azure Key Vault.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 b="1">
                <a:solidFill>
                  <a:srgbClr val="1B212C"/>
                </a:solidFill>
                <a:latin typeface="Calibri"/>
              </a:rPr>
              <a:t>Consider CQRS / MediatR</a:t>
            </a:r>
            <a:r>
              <a:rPr sz="1400">
                <a:solidFill>
                  <a:srgbClr val="1B212C"/>
                </a:solidFill>
                <a:latin typeface="Calibri"/>
              </a:rPr>
              <a:t> — As controller bodies grow, plus integration tests around the Hourly / Daily background services.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 b="1">
                <a:solidFill>
                  <a:srgbClr val="1B212C"/>
                </a:solidFill>
                <a:latin typeface="Calibri"/>
              </a:rPr>
              <a:t>Generate typed API client</a:t>
            </a:r>
            <a:r>
              <a:rPr sz="1400">
                <a:solidFill>
                  <a:srgbClr val="1B212C"/>
                </a:solidFill>
                <a:latin typeface="Calibri"/>
              </a:rPr>
              <a:t> — From the Swashbuckle OpenAPI spec, replace manual Axios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6070"/>
                </a:solidFill>
                <a:latin typeface="Calibri"/>
              </a:rPr>
              <a:t>EpiCenter · Technical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607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8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F58A07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8A07"/>
                </a:solidFill>
                <a:latin typeface="Calibri"/>
              </a:rPr>
              <a:t>QUICK LINKS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9728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Repos — EpiCenter-backend-main  ·  UI-Epicenter-main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Swagger — /swagger on the API host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Logs — Logs/requests-*.log (Serilog daily rolling)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58A07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CI — .github/workflows/deploy_backend.yml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
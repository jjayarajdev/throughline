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8A07"/>
                </a:solidFill>
                <a:latin typeface="Calibri"/>
              </a:rPr>
              <a:t>EPICENTER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Process Flow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How work moves through the platform — at a glance.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FD8E3"/>
                </a:solidFill>
                <a:latin typeface="Calibri"/>
              </a:rPr>
              <a:t>1  Master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47548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FD8E3"/>
                </a:solidFill>
                <a:latin typeface="Calibri"/>
              </a:rPr>
              <a:t>2  HRQ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7548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FD8E3"/>
                </a:solidFill>
                <a:latin typeface="Calibri"/>
              </a:rPr>
              <a:t>3  Partner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47548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FD8E3"/>
                </a:solidFill>
                <a:latin typeface="Calibri"/>
              </a:rPr>
              <a:t>4  Candidate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663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FD8E3"/>
                </a:solidFill>
                <a:latin typeface="Calibri"/>
              </a:rPr>
              <a:t>5  Interview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1663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FD8E3"/>
                </a:solidFill>
                <a:latin typeface="Calibri"/>
              </a:rPr>
              <a:t>6  Onboarding (Day 0→90)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1663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FD8E3"/>
                </a:solidFill>
                <a:latin typeface="Calibri"/>
              </a:rPr>
              <a:t>7  Roles × Stages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DIAGRAM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Master Flow — Requisition to Day-90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3143" y="2103120"/>
            <a:ext cx="128016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143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143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Raise HRQ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143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Hiring Mgr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47875" y="2660904"/>
            <a:ext cx="13716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89607" y="2103120"/>
            <a:ext cx="128016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89607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9607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BET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9607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BET Approver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74339" y="2660904"/>
            <a:ext cx="13716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16071" y="2103120"/>
            <a:ext cx="128016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6071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6071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RM Owner Accept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6071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RM Owner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600803" y="2660904"/>
            <a:ext cx="13716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42535" y="2103120"/>
            <a:ext cx="1280160" cy="12801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2535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2535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Vendor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2535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027267" y="2660904"/>
            <a:ext cx="13716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68999" y="2103120"/>
            <a:ext cx="1280160" cy="12801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8999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8999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Slot &amp; Interview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8999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Panel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453731" y="2660904"/>
            <a:ext cx="13716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95463" y="2103120"/>
            <a:ext cx="1280160" cy="12801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5463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5463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Feedback &amp; Offer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95463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Hiring Mgr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880195" y="2660904"/>
            <a:ext cx="13716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21927" y="2103120"/>
            <a:ext cx="1280160" cy="1280160"/>
          </a:xfrm>
          <a:prstGeom prst="round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1927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1927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BGV &amp; Onboarding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1927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SPOC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306659" y="2660904"/>
            <a:ext cx="13716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48391" y="2103120"/>
            <a:ext cx="1280160" cy="12801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48391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48391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30/60/90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48391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TA Lead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3143" y="3657600"/>
            <a:ext cx="413308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HMS  ·  Approval &amp; Routing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42535" y="3657600"/>
            <a:ext cx="413308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0A3A1"/>
                </a:solidFill>
                <a:latin typeface="Calibri"/>
              </a:rPr>
              <a:t>PMS  ·  Vendor &amp; Interview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1927" y="3657600"/>
            <a:ext cx="1426464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58A07"/>
                </a:solidFill>
                <a:latin typeface="Calibri"/>
              </a:rPr>
              <a:t>CMS  ·  Onboarding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8391" y="36576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Calibri"/>
              </a:rPr>
              <a:t>Tracker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434840"/>
            <a:ext cx="1106424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Background automation that quietly keeps the pipeline moving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4937760"/>
            <a:ext cx="777240" cy="5943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056632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Hourly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45920" y="498348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Expire stale slots · drop after 3 rejections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4937760"/>
            <a:ext cx="777240" cy="594360"/>
          </a:xfrm>
          <a:prstGeom prst="round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5056632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Daily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498348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Reassign aged HRQs · deactivate idle vendors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4937760"/>
            <a:ext cx="777240" cy="5943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2440" y="5056632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Always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498348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Audit log · email alerts · role dashboards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Eight stages, three sub-systems, one audit trail. Automations keep work moving without human chasing.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Process Flow Diagrams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DIAGRAM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HRQ Lifecycle — with Auto-Reassign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82880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HRQ 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828800"/>
            <a:ext cx="182880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182880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RM Owner Inbox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2157984"/>
            <a:ext cx="64008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937760" y="2157984"/>
            <a:ext cx="64008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8138160" y="1508760"/>
            <a:ext cx="1828800" cy="1463040"/>
          </a:xfrm>
          <a:prstGeom prst="diamond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Accepted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in SLA?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06640" y="2157984"/>
            <a:ext cx="73152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0" y="1874520"/>
            <a:ext cx="1828800" cy="64008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Open for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Submissions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966960" y="2157984"/>
            <a:ext cx="27432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965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Calibri"/>
              </a:rP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14800"/>
            <a:ext cx="2011680" cy="6400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Auto-Reassign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2461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60.0" y="2926080"/>
            <a:ext cx="0.0" cy="118872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own Arrow 18"/>
          <p:cNvSpPr/>
          <p:nvPr/>
        </p:nvSpPr>
        <p:spPr>
          <a:xfrm>
            <a:off x="8970264" y="2926080"/>
            <a:ext cx="164592" cy="1188720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6492240.0" y="4434840"/>
            <a:ext cx="1645920.0" cy="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92240.0" y="2651760"/>
            <a:ext cx="0.0" cy="178308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0" y="2880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Loop until accepted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4754880"/>
            <a:ext cx="1828800" cy="8229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Submissions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4754880"/>
            <a:ext cx="1828800" cy="8229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Interview Rounds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4754880"/>
            <a:ext cx="1828800" cy="8229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Offer · Hire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9784080" y="5084064"/>
            <a:ext cx="457200" cy="164592"/>
          </a:xfrm>
          <a:prstGeom prst="lef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7498080" y="5084064"/>
            <a:ext cx="457200" cy="164592"/>
          </a:xfrm>
          <a:prstGeom prst="lef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11073384" y="2514600"/>
            <a:ext cx="164592" cy="2240280"/>
          </a:xfrm>
          <a:prstGeom prst="downArrow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669280"/>
            <a:ext cx="201168" cy="20116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Stage (HMS)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5669280"/>
            <a:ext cx="201168" cy="201168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49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Submissions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5669280"/>
            <a:ext cx="201168" cy="201168"/>
          </a:xfrm>
          <a:prstGeom prst="round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5669280"/>
            <a:ext cx="201168" cy="20116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Auto / Exception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Every HRQ has a clock. If the RM Owner doesn't accept in SLA, EpiCenter reassigns it automatically — no chasing.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Process Flow Diagrams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DIAGRAM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Partner Lifecycle (PMS)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6063" y="1920240"/>
            <a:ext cx="192024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Add Partner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6303" y="2249424"/>
            <a:ext cx="164592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50895" y="1920240"/>
            <a:ext cx="192024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Empanelment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71135" y="2249424"/>
            <a:ext cx="164592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35727" y="1920240"/>
            <a:ext cx="192024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SOW · Rate Card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55967" y="2249424"/>
            <a:ext cx="164592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0559" y="1920240"/>
            <a:ext cx="192024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Active Engagement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40799" y="2249424"/>
            <a:ext cx="164592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05391" y="1920240"/>
            <a:ext cx="192024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Performance Score</a:t>
            </a:r>
          </a:p>
        </p:txBody>
      </p:sp>
      <p:sp>
        <p:nvSpPr>
          <p:cNvPr id="15" name="Diamond 14"/>
          <p:cNvSpPr/>
          <p:nvPr/>
        </p:nvSpPr>
        <p:spPr>
          <a:xfrm>
            <a:off x="4998567" y="3383280"/>
            <a:ext cx="2194560" cy="1280160"/>
          </a:xfrm>
          <a:prstGeom prst="diamond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Meeting SLA &amp;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active in 30d?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65511.5" y="2743200"/>
            <a:ext cx="0.0" cy="658368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own Arrow 16"/>
          <p:cNvSpPr/>
          <p:nvPr/>
        </p:nvSpPr>
        <p:spPr>
          <a:xfrm>
            <a:off x="10183215" y="2743200"/>
            <a:ext cx="164592" cy="685800"/>
          </a:xfrm>
          <a:prstGeom prst="down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3657600"/>
            <a:ext cx="2286000" cy="73152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Renew · Continue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93127.5" y="4023360"/>
            <a:ext cx="1950872.5" cy="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38847" y="37947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Calibri"/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2286000" cy="7315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Auto-Deactivate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017520" y="4023360"/>
            <a:ext cx="1981047.5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32807" y="379476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74520" y="4389120"/>
            <a:ext cx="0" cy="640080"/>
          </a:xfrm>
          <a:prstGeom prst="line">
            <a:avLst/>
          </a:prstGeom>
          <a:ln w="19050">
            <a:solidFill>
              <a:srgbClr val="8B9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74520" y="5029200"/>
            <a:ext cx="51663.5" cy="0"/>
          </a:xfrm>
          <a:prstGeom prst="line">
            <a:avLst/>
          </a:prstGeom>
          <a:ln w="19050">
            <a:solidFill>
              <a:srgbClr val="8B9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26183.5" y="2743200"/>
            <a:ext cx="0.0" cy="2286000"/>
          </a:xfrm>
          <a:prstGeom prst="line">
            <a:avLst/>
          </a:prstGeom>
          <a:ln w="19050">
            <a:solidFill>
              <a:srgbClr val="8B9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Re-empanel later (manual)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669280"/>
            <a:ext cx="201168" cy="20116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PMS Stage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5669280"/>
            <a:ext cx="201168" cy="201168"/>
          </a:xfrm>
          <a:prstGeom prst="round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Decision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5669280"/>
            <a:ext cx="201168" cy="20116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Continue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5669280"/>
            <a:ext cx="201168" cy="20116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Exit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Vendors run as a portfolio. Performance is scored continuously; 30 days of inactivity triggers an automatic deactivation.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Process Flow Diagrams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DIAGRAM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Candidate Journey — Cart vs Bin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737360" cy="77724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Submission</a:t>
            </a:r>
          </a:p>
        </p:txBody>
      </p:sp>
      <p:sp>
        <p:nvSpPr>
          <p:cNvPr id="7" name="Diamond 6"/>
          <p:cNvSpPr/>
          <p:nvPr/>
        </p:nvSpPr>
        <p:spPr>
          <a:xfrm>
            <a:off x="2743200" y="2606040"/>
            <a:ext cx="1828800" cy="1051560"/>
          </a:xfrm>
          <a:prstGeom prst="diamond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Initial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Review?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3049524"/>
            <a:ext cx="36576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173736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Cart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657600" y="2148840"/>
            <a:ext cx="2331720.0" cy="50292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03320" y="23317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Calibri"/>
              </a:rPr>
              <a:t>Approved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297680"/>
            <a:ext cx="17373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0" y="3611880"/>
            <a:ext cx="2331720.0" cy="68580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03320" y="3657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Flagged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71600"/>
            <a:ext cx="1737360" cy="77724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Interview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Rounds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58000" y="1677924"/>
            <a:ext cx="457200" cy="164592"/>
          </a:xfrm>
          <a:prstGeom prst="right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0" y="1371600"/>
            <a:ext cx="173736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Offer · Hire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52560" y="1677924"/>
            <a:ext cx="457200" cy="164592"/>
          </a:xfrm>
          <a:prstGeom prst="right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7315200" y="4160520"/>
            <a:ext cx="1828800" cy="1051560"/>
          </a:xfrm>
          <a:prstGeom prst="diamond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Re-evaluate?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58000" y="4604004"/>
            <a:ext cx="457200" cy="164592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8229600" y="2514600"/>
            <a:ext cx="0" cy="1691640"/>
          </a:xfrm>
          <a:prstGeom prst="line">
            <a:avLst/>
          </a:prstGeom>
          <a:ln w="19050">
            <a:solidFill>
              <a:srgbClr val="2E8B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6858000" y="2057400"/>
            <a:ext cx="1371600" cy="457200"/>
          </a:xfrm>
          <a:prstGeom prst="line">
            <a:avLst/>
          </a:prstGeom>
          <a:ln w="19050">
            <a:solidFill>
              <a:srgbClr val="2E8B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ight Arrow 22"/>
          <p:cNvSpPr/>
          <p:nvPr/>
        </p:nvSpPr>
        <p:spPr>
          <a:xfrm>
            <a:off x="6812280" y="1975104"/>
            <a:ext cx="45720" cy="164592"/>
          </a:xfrm>
          <a:prstGeom prst="right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8862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Calibri"/>
              </a:rPr>
              <a:t>Yes → Move to Cart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4297680"/>
            <a:ext cx="17373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Dropped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44000" y="4718304"/>
            <a:ext cx="365760" cy="164592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486400"/>
            <a:ext cx="11064240" cy="3657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Auto-rule: 3 rejections from interviews → candidate moved to Bin and flagged for review.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Cart accelerates approved candidates. Bin is the safety net — nothing leaves the system without an explicit decision.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Process Flow Diagrams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DIAGRAM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Interview Slot — Self-Serve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920240" cy="8229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Panel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Publishes Slot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60320" y="2157984"/>
            <a:ext cx="41148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1828800"/>
            <a:ext cx="192024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Vendor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Views Slot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92040" y="2157984"/>
            <a:ext cx="41148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0" y="1828800"/>
            <a:ext cx="192024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Vendor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Books Candidate</a:t>
            </a:r>
          </a:p>
        </p:txBody>
      </p:sp>
      <p:sp>
        <p:nvSpPr>
          <p:cNvPr id="11" name="Diamond 10"/>
          <p:cNvSpPr/>
          <p:nvPr/>
        </p:nvSpPr>
        <p:spPr>
          <a:xfrm>
            <a:off x="7635240" y="1645920"/>
            <a:ext cx="1828800" cy="1188720"/>
          </a:xfrm>
          <a:prstGeom prst="diamond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Booked in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validity?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3760" y="2157984"/>
            <a:ext cx="41148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29800" y="1828800"/>
            <a:ext cx="1920240" cy="82296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Interview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Held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64040" y="2157984"/>
            <a:ext cx="365760" cy="164592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59" y="155448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Calibri"/>
              </a:rP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3017520"/>
            <a:ext cx="1920240" cy="8229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Feedback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Captured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0707624" y="2651760"/>
            <a:ext cx="164592" cy="365760"/>
          </a:xfrm>
          <a:prstGeom prst="down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4023360"/>
            <a:ext cx="1920240" cy="8229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Slot Auto-Expires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2834640"/>
            <a:ext cx="502920.0" cy="118872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35240" y="28803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600200.0" y="4434840.0"/>
            <a:ext cx="6492240.0" cy="0.0"/>
          </a:xfrm>
          <a:prstGeom prst="line">
            <a:avLst/>
          </a:prstGeom>
          <a:ln w="19050">
            <a:solidFill>
              <a:srgbClr val="8B9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00200.0" y="2651760"/>
            <a:ext cx="0.0" cy="1783080.0"/>
          </a:xfrm>
          <a:prstGeom prst="line">
            <a:avLst/>
          </a:prstGeom>
          <a:ln w="19050">
            <a:solidFill>
              <a:srgbClr val="8B9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91640" y="39776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Capacity returns to slot pool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212080"/>
            <a:ext cx="110642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212080"/>
            <a:ext cx="9144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03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212C"/>
                </a:solidFill>
                <a:latin typeface="Calibri"/>
              </a:rPr>
              <a:t>Hourly job: candidates rejected from 3 slots are auto-dropped from active pipeline.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Self-serve booking eliminates email back-and-forth. Auto-expiry means unbooked capacity is recycled — not lost.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Process Flow Diagrams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DIAGRAM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Onboarding — Day 0 → Day 90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903220"/>
            <a:ext cx="11064240" cy="45720"/>
          </a:xfrm>
          <a:prstGeom prst="rect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61872" y="2788920"/>
            <a:ext cx="36576" cy="27432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58A07"/>
                </a:solidFill>
                <a:latin typeface="Calibri"/>
              </a:rPr>
              <a:t>Day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00400"/>
            <a:ext cx="1188720" cy="777240"/>
          </a:xfrm>
          <a:prstGeom prst="round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Offer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Accepted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9597" y="2788920"/>
            <a:ext cx="36576" cy="27432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7805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0A3A1"/>
                </a:solidFill>
                <a:latin typeface="Calibri"/>
              </a:rPr>
              <a:t>Day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3525" y="3200400"/>
            <a:ext cx="1188720" cy="77724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BGV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Initiated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7323" y="2788920"/>
            <a:ext cx="36576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5531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Day 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1251" y="3200400"/>
            <a:ext cx="1188720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Joining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5049" y="2788920"/>
            <a:ext cx="36576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3257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Day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977" y="3200400"/>
            <a:ext cx="1188720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Asset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Allocation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2774" y="2788920"/>
            <a:ext cx="36576" cy="27432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0982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0A3A1"/>
                </a:solidFill>
                <a:latin typeface="Calibri"/>
              </a:rPr>
              <a:t>Day 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6702" y="3200400"/>
            <a:ext cx="1188720" cy="77724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0500" y="2788920"/>
            <a:ext cx="36576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8708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Calibri"/>
              </a:rPr>
              <a:t>Day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74428" y="3200400"/>
            <a:ext cx="118872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30-Day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8226" y="2788920"/>
            <a:ext cx="36576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6434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Calibri"/>
              </a:rPr>
              <a:t>Day 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2154" y="3200400"/>
            <a:ext cx="118872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60-Day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45952" y="2788920"/>
            <a:ext cx="36576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Calibri"/>
              </a:rPr>
              <a:t>Day 90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9880" y="3200400"/>
            <a:ext cx="118872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90-Day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572000"/>
            <a:ext cx="11064240" cy="1234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663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Continuously tracked on the candidate record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074920"/>
            <a:ext cx="2103120" cy="64008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BGV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0" y="5074920"/>
            <a:ext cx="210312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Asset register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0" y="5074920"/>
            <a:ext cx="2103120" cy="640080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Training records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5074920"/>
            <a:ext cx="2103120" cy="640080"/>
          </a:xfrm>
          <a:prstGeom prst="round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Joining reschedule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+ reason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5074920"/>
            <a:ext cx="2103120" cy="6400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30/60/90 progress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One record from offer through Day 90. Reschedules and missed milestones surface immediately — joiners don't slip.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Process Flow Diagrams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DIAGRAM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Who Touches What — Roles ×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1691640"/>
            <a:ext cx="98755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Raise
HRQ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BET
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RM Owner
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Vendor
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Slot &amp;
Interview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Feedback
&amp; Offer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BGV &amp;
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Day
30/60/90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48840"/>
            <a:ext cx="14630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48840"/>
            <a:ext cx="73152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854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Hiring Mgr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82596" y="2231136"/>
            <a:ext cx="292608" cy="29260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35324" y="2249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69764" y="2249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38644" y="2249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54796" y="2231136"/>
            <a:ext cx="292608" cy="29260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5276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41964" y="2249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2606040"/>
            <a:ext cx="14630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2606040"/>
            <a:ext cx="73152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26426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BET Approver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612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717036" y="2688336"/>
            <a:ext cx="292608" cy="29260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8056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1500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4944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8388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1832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5276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3063240"/>
            <a:ext cx="14630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3063240"/>
            <a:ext cx="73152" cy="45720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30998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RM Owner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612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35324" y="31638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8056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51476" y="3145536"/>
            <a:ext cx="292608" cy="292608"/>
          </a:xfrm>
          <a:prstGeom prst="ellipse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500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185916" y="3145536"/>
            <a:ext cx="292608" cy="292608"/>
          </a:xfrm>
          <a:prstGeom prst="ellipse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4944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438644" y="31638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8388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73084" y="31638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1832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65276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141964" y="31638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" y="3520440"/>
            <a:ext cx="14630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" y="3520440"/>
            <a:ext cx="73152" cy="4572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35570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Partner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1168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4612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48056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1500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185916" y="3602736"/>
            <a:ext cx="292608" cy="292608"/>
          </a:xfrm>
          <a:prstGeom prst="ellipse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4944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20356" y="3602736"/>
            <a:ext cx="292608" cy="292608"/>
          </a:xfrm>
          <a:prstGeom prst="ellipse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8388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41832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65276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" y="3977640"/>
            <a:ext cx="14630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3977640"/>
            <a:ext cx="73152" cy="45720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40142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Panel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1168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4612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48056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71500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420356" y="4059936"/>
            <a:ext cx="292608" cy="292608"/>
          </a:xfrm>
          <a:prstGeom prst="ellipse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18388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4796" y="4059936"/>
            <a:ext cx="292608" cy="292608"/>
          </a:xfrm>
          <a:prstGeom prst="ellipse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41832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65276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48640" y="4434840"/>
            <a:ext cx="14630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48640" y="4434840"/>
            <a:ext cx="73152" cy="4572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5800" y="44714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Onboarding SPOC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1168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4612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48056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71500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4944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8388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673084" y="4535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8A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1832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889236" y="4517136"/>
            <a:ext cx="292608" cy="292608"/>
          </a:xfrm>
          <a:prstGeom prst="ellipse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65276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141964" y="4535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8A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48640" y="4892040"/>
            <a:ext cx="146304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48640" y="4892040"/>
            <a:ext cx="73152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49286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TA Lead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01168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500884" y="49926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24612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48056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71500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94944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18388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41832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907524" y="49926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65276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123676" y="4974336"/>
            <a:ext cx="292608" cy="29260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40080" y="5669280"/>
            <a:ext cx="228600" cy="228600"/>
          </a:xfrm>
          <a:prstGeom prst="ellipse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0120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Primary owner</a:t>
            </a:r>
          </a:p>
        </p:txBody>
      </p:sp>
      <p:sp>
        <p:nvSpPr>
          <p:cNvPr id="117" name="Oval 116"/>
          <p:cNvSpPr/>
          <p:nvPr/>
        </p:nvSpPr>
        <p:spPr>
          <a:xfrm>
            <a:off x="2560320" y="5669280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6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880360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6070"/>
                </a:solidFill>
                <a:latin typeface="Calibri"/>
              </a:rPr>
              <a:t>Involved / approver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One owner per stage. Other stakeholders are involved but never ambiguous about who's accountable.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Process Flow Diagrams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That's the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58A07"/>
                </a:solidFill>
                <a:latin typeface="Calibri"/>
              </a:rPr>
              <a:t>Same shape as how a GCC already operates — just enforced and instrumented.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8A07"/>
                </a:solidFill>
                <a:latin typeface="Calibri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Walk one of these flows on your real data — 30-min discovery.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Pick two domains for a 6-week pilot — measure TAT lift.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
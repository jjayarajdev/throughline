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20" y="640080"/>
            <a:ext cx="1463040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32720" y="914400"/>
            <a:ext cx="914400" cy="9144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8A07"/>
                </a:solidFill>
                <a:latin typeface="Calibri"/>
              </a:rPr>
              <a:t>FOR GLOBAL CAPABILITY CENTERS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EpiCenter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The Recruitment Operating System for high-volume,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multi-vendor enterprise hiring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8E3"/>
                </a:solidFill>
                <a:latin typeface="Calibri"/>
              </a:rPr>
              <a:t>Partners  ·  Hiring  ·  Candidates  —  one platform, end to 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7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Built for the way GCCs actually hire — multi-vendor, multi-role, audit-ready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The GCC Hiring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Calibri"/>
              </a:rPr>
              <a:t>GCCs hire at scale across a fragmented vendor ecosystem — and pay the price in speed, cost and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703320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3703320" cy="6400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Fragmented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ATS, vendor portals, spreadsheets and email do half the job each — nothing tells the full 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057400"/>
            <a:ext cx="3703320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3703320" cy="6400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Vendor sprawl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Dozens of partners, each with different SLAs, rate cards and contact matrices — no single source of truth.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057400"/>
            <a:ext cx="3703320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3703320" cy="6400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2402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Slow time-to-hire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9748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HRQs sit unallocated, slots go unbooked, candidates drop off — every day of delay is a competing offer.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3703320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3703320" cy="6400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Weak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No reliable audit trail of who approved what, when — painful at compliance / internal audit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160520"/>
            <a:ext cx="3703320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160520"/>
            <a:ext cx="3703320" cy="6400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34340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Limited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80060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Leadership has no live view of pipeline health, vendor performance or panel utilisation.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160520"/>
            <a:ext cx="3703320" cy="2011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160520"/>
            <a:ext cx="3703320" cy="6400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34340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Onboarding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BGV, asset allocation and training tracked in disconnected sheets — joiners slip through the cracks.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Introducing EpiCenter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6070"/>
                </a:solidFill>
                <a:latin typeface="Calibri"/>
              </a:rPr>
              <a:t>One platform that runs your entire recruitment operation.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70332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70332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Partner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33375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Onboard, score and govern your full vendor network with empanelment, engagements, SOWs, rate cards and escalation matrices.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70332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703320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Hiring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3375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From requisition to offer — HRQs, panels, calibration, interview slots, structured feedback, automated re-routing and SLAs.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70332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703320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671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957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Candidate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33375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Cart / Bin pipelines, BGV tracking, training, asset allocation and post-joining profile tracker — all on one record.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8A07"/>
                </a:solidFill>
                <a:latin typeface="Calibri"/>
              </a:rPr>
              <a:t>One login. One pipeline. One audit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Built for Every Role in the Hiring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532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146304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TA / Hiring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Live KPIs across vendors, requisitions, conversion and TAT — make budget and capacity calls with real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32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91440" cy="146304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RM Owner / Vendor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Allocate HRQs, accept or reject within SLA, govern partners, approve SOWs, manage escalations.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5532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91440" cy="146304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Hiring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Raise requisitions, review shortlists, approve panels, watch the pipeline for their own openings.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5532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91440" cy="146304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546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Recruitment Partner / 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Self-serve portal — see assigned HRQs, submit candidates, book interview slots, track conversion.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5532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91440" cy="146304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Interview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663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Get scheduled invites, give structured feedback, participate in calibration sessions.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532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617720"/>
            <a:ext cx="91440" cy="146304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548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Onboarding SPOC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663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Drive BGV, training, asset allocation and joining-date rescheduling on a single candidate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Business Outcomes EpiCenter Drives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Indicative impact based on workflows the platform automates today. Final benchmarks are calibrated to your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2697480" cy="1828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91440" cy="18288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30–40%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Faster time-to-hire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057400"/>
            <a:ext cx="2697480" cy="1828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57400"/>
            <a:ext cx="91440" cy="182880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Vendor visibility &amp;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57400"/>
            <a:ext cx="2697480" cy="1828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57400"/>
            <a:ext cx="9144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Auditable approval trail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057400"/>
            <a:ext cx="2697480" cy="1828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57400"/>
            <a:ext cx="91440" cy="1828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Single platform for HMS · PMS · CMS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What measurably improves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110642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Vendor performance</a:t>
            </a:r>
            <a:r>
              <a:rPr sz="1300">
                <a:solidFill>
                  <a:srgbClr val="1B212C"/>
                </a:solidFill>
                <a:latin typeface="Calibri"/>
              </a:rPr>
              <a:t> — leaderboards by submission, conversion, joiner ratio.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HRQ aging</a:t>
            </a:r>
            <a:r>
              <a:rPr sz="1300">
                <a:solidFill>
                  <a:srgbClr val="1B212C"/>
                </a:solidFill>
                <a:latin typeface="Calibri"/>
              </a:rPr>
              <a:t> — auto-reassignment when an RM Owner sits on a requisition.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Slot utilisation</a:t>
            </a:r>
            <a:r>
              <a:rPr sz="1300">
                <a:solidFill>
                  <a:srgbClr val="1B212C"/>
                </a:solidFill>
                <a:latin typeface="Calibri"/>
              </a:rPr>
              <a:t> — auto-expiry of unbooked slots, reducing dead capacity.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Compliance posture</a:t>
            </a:r>
            <a:r>
              <a:rPr sz="1300">
                <a:solidFill>
                  <a:srgbClr val="1B212C"/>
                </a:solidFill>
                <a:latin typeface="Calibri"/>
              </a:rPr>
              <a:t> — every state change recorded — BGV, joining, asset allocation.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PILLAR 1 — PMS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Partner / Vendor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Calibri"/>
              </a:rPr>
              <a:t>Run your vendor network like a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Structured partner profiles, contact matrix and category / tier mapping.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Empanelment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Evaluation period, approval workflow and renewal — with full approval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Engagements &amp; SOWs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SOWs, change requests, rate cards and PO details — versioned.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Escalation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Codified escalation paths so issues never get stuck in one inbox.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Auto-deactivation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Inactive partners (no submissions in 30 days) flagged automatically.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Submission rate, conversion rate, joiner-to-offer ratio per partner.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PILLAR 2 — 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Hiring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Calibri"/>
              </a:rPr>
              <a:t>Move requisitions from approval to offer with structure and SLAs.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Requisitions (HRQs)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Capture role, level, domain, location, panel — route through BET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Auto-allocation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RM Owner receives HRQs; if not actioned within SLA, system reassigns.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Interview 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Configurable rounds per role / domain with criteria and weights.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Panels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Maintain panel rosters, history and availability per 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Calibration sessions to keep feedback consistent across panels.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Slot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Vendors book against open slots; system expires stale slots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PILLAR 3 —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Candidate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Calibri"/>
              </a:rPr>
              <a:t>One record from first submission to 90-day post-joining.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Cart / Bin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Approved candidates flow to cart; flagged candidates land in bin for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15184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Resume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1518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DOCX and PDF parsed in-browser — no extra upload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18688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Background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1868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BGV status, vendor and dates tracked on the candidate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22192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Personal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2219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Address, family, diversity and document upload in one place.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2569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Asset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42569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Laptop, phone, ID card — issued and tracked against the joiner.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Training &amp; profile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02920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Onboarding training records and 30/60/90-day profile progress.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32704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3270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Joining reschedule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63270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Joining-date changes captured with reason and full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End-to-End — Requisition to Day-90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Calibri"/>
              </a:rPr>
              <a:t>Eight stages. One platform. Zero context switches.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3153" y="2286000"/>
            <a:ext cx="128016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3153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153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Raise HRQ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153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23313" y="2852928"/>
            <a:ext cx="123444" cy="14630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46757" y="2286000"/>
            <a:ext cx="128016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6757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6757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BET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6757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BET Approver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26917" y="2852928"/>
            <a:ext cx="123444" cy="14630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0361" y="2286000"/>
            <a:ext cx="1280160" cy="12801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0361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0361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RM Owner Accept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0361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RM Owner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630521" y="2852928"/>
            <a:ext cx="123444" cy="14630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3965" y="2286000"/>
            <a:ext cx="1280160" cy="12801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3965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3965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Vendor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3965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34125" y="2852928"/>
            <a:ext cx="123444" cy="14630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57569" y="2286000"/>
            <a:ext cx="1280160" cy="12801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7569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7569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Slot &amp; Interview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7569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Panel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437729" y="2852928"/>
            <a:ext cx="123444" cy="14630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61173" y="2286000"/>
            <a:ext cx="1280160" cy="1280160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1173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1173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Feedback &amp; 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1173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841333" y="2852928"/>
            <a:ext cx="123444" cy="14630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64777" y="2286000"/>
            <a:ext cx="1280160" cy="1280160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4777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4777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BGV &amp; Onboarding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4777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SPOC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244937" y="2852928"/>
            <a:ext cx="123444" cy="14630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68381" y="2286000"/>
            <a:ext cx="1280160" cy="12801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68381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8381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Day-30/60/90 Tracker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8381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TA Lead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Automated cross-cutting 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Hourly</a:t>
            </a:r>
            <a:r>
              <a:rPr sz="1300">
                <a:solidFill>
                  <a:srgbClr val="1B212C"/>
                </a:solidFill>
                <a:latin typeface="Calibri"/>
              </a:rPr>
              <a:t> — expire stale slots, drop candidates after 3 rejections, refresh slot counts.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Daily</a:t>
            </a:r>
            <a:r>
              <a:rPr sz="1300">
                <a:solidFill>
                  <a:srgbClr val="1B212C"/>
                </a:solidFill>
                <a:latin typeface="Calibri"/>
              </a:rPr>
              <a:t> — reassign aged HRQs, reject stale on-hold candidates, deactivate inactive partners, trigger escalations.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Always</a:t>
            </a:r>
            <a:r>
              <a:rPr sz="1300">
                <a:solidFill>
                  <a:srgbClr val="1B212C"/>
                </a:solidFill>
                <a:latin typeface="Calibri"/>
              </a:rPr>
              <a:t> — audit log of every state change · email notifications · role-based dashboards.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Real-time Dashboards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Calibri"/>
              </a:rPr>
              <a:t>Every role sees the data that matters to them — live, no exports.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9748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91440" cy="128016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Active Partners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011680"/>
            <a:ext cx="269748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9144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Active HRQs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269748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91440" cy="128016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612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Candidates in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011680"/>
            <a:ext cx="269748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11680"/>
            <a:ext cx="91440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Unassigned HRQs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20440"/>
            <a:ext cx="54864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Weekly Submissions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074920"/>
            <a:ext cx="502920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" y="4709160"/>
            <a:ext cx="502920" cy="100584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48840" y="4892040"/>
            <a:ext cx="502920" cy="82296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4434840"/>
            <a:ext cx="502920" cy="128016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4251960"/>
            <a:ext cx="502920" cy="146304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4617720"/>
            <a:ext cx="502920" cy="10972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2040" y="4069080"/>
            <a:ext cx="502920" cy="164592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520440"/>
            <a:ext cx="534924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657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Candidate Stage Mix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297680"/>
            <a:ext cx="2221992" cy="50292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297680"/>
            <a:ext cx="222199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14232" y="4297680"/>
            <a:ext cx="1481328" cy="50292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297680"/>
            <a:ext cx="148132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95560" y="4297680"/>
            <a:ext cx="740664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36224" y="4297680"/>
            <a:ext cx="493776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5248656"/>
            <a:ext cx="201168" cy="20116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Sourced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80" y="5248656"/>
            <a:ext cx="201168" cy="20116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In Interview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5248656"/>
            <a:ext cx="201168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Offered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5560" y="5248656"/>
            <a:ext cx="201168" cy="2011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Joined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Interview Operations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Calibri"/>
              </a:rPr>
              <a:t>The hardest part of GCC hiring is interview logistics. EpiCenter automates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Slot pools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Panels publish slots; vendors book against them; double-booking is impossible.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Auto-expiry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Unbooked slots expire after a configurable validity window — capacity isn't lost.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Round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Different rounds per role / domain with weighted criteria.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Structured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Feedback templates per round; aggregated automatically into a hire / no-hire 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Calibration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Run calibration so different panels score the same candidate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Panel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Full record of who interviewed whom — useful for re-interviews and audits.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Onboarding &amp; Post-Joining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Calibri"/>
              </a:rPr>
              <a:t>Day 0 to Day 90 — every joiner ends on the right side of compliance.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Background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BGV vendor, status, dates and result tracked per candidate.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Personal &amp; document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Address, family, diversity data, ID documents — uploaded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Asset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Laptop, phone, access cards issued and tracked.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Training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Onboarding sessions attended; gaps flagged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Profile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30 / 60 / 90-day post-joining progress with reminders.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Joining reschedule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Every change captured with reason — answers 'why did this offer slip?'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Governance · Audit ·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Calibri"/>
              </a:rPr>
              <a:t>Audit-ready by design — not a feature you switch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53212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532120" cy="640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Full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Every state change — candidate, engagement, panel, bin, PO, joining — is recorded with who, when and why.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53212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532120" cy="640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Granular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Permission matrix at module × form level. Different roles, same screens, different powers.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553212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532120" cy="640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Approval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BET approval, RM Owner accept, partner empanelment — each step gated and logged.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343400"/>
            <a:ext cx="553212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343400"/>
            <a:ext cx="5532120" cy="640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Configurable masters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07492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Domains, skills, locations, levels, status codes — configurable without code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Security &amp; Enterprise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73152" cy="8686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Single Sign-On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SAML 2.0 (Okta), Azure AD and JWT — fits your existing identity stack.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73152" cy="8686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Role-based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Permission matrix in the database; UI mirrors the same flags.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41448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41448"/>
            <a:ext cx="73152" cy="8686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32888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Cloud-native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52928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Runs on Azure — SQL Database, Blob Storage, Functions, App Service.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41448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41448"/>
            <a:ext cx="73152" cy="8686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32888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Containerised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52928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Multi-stage Docker image; deployable on any container host.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19856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19856"/>
            <a:ext cx="73152" cy="8686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11296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31336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Structured logging with daily rolling files; per-request timing.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419856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419856"/>
            <a:ext cx="73152" cy="8686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11296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Email delegation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31336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Outbound email through a serverless function — no SMTP credentials in app.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98264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98264"/>
            <a:ext cx="73152" cy="8686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89704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Open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09744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Swagger / OpenAPI auto-published — easy to integrate with HRMS, BI, etc.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398264"/>
            <a:ext cx="553212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398264"/>
            <a:ext cx="73152" cy="8686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489704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Data residency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09744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Stays in your Azure tenant — your data, your geography.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Why EpiCenter for a GCC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Calibri"/>
              </a:rPr>
              <a:t>Not a generic ATS. Built around the realities of captive-centre hiring.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532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91440" cy="128016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Multi-vendor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Empanelment, engagement, SOWs and escalation matrices are first-class — not bolt-ons.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532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9144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Workflow-driven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BET approval, RM Owner ownership, calibration and escalations match how GCCs already operate.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5532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91440" cy="128016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Audit-ready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Every change recorded — built for organisations that will be audited.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5532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9144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Lifecycle, not just sourcing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4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Continues past offer into BGV, training, assets and 90-day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5532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91440" cy="128016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Configurable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Masters, roles, slot rules, escalation paths — change without code.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846320"/>
            <a:ext cx="5532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9144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Cloud-native, integrate-ready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9496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Azure-native, OpenAPI-published — drops into your stack.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Implementation &amp;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Calibri"/>
              </a:rPr>
              <a:t>A typical GCC rollout. Tunable to your scale and integrations.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240280" cy="3657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24028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Vendor list · approval matrix · masters · SLAs · integration map.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03120"/>
            <a:ext cx="2240280" cy="3657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2103120"/>
            <a:ext cx="224028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Roles · permission matrix · escalation rules · email templates · slot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8656" y="2103120"/>
            <a:ext cx="2240280" cy="3657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48656" y="2103120"/>
            <a:ext cx="2240280" cy="59436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1–2 domains live with a subset of vendors and a real HRQ funnel.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98664" y="2103120"/>
            <a:ext cx="2240280" cy="3657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8664" y="2103120"/>
            <a:ext cx="2240280" cy="59436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1544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544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Roll-out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1544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Open to all domains and vendors · full reporting · onboarding flows.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2103120"/>
            <a:ext cx="2240280" cy="3657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48672" y="2103120"/>
            <a:ext cx="2240280" cy="5943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Ongoing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Run &amp; 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Vendor scorecards · TAT tuning · new dashboards · integrations.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Let's Run a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Calibri"/>
              </a:rPr>
              <a:t>We learn your data. You see the platform on it. Decision in 6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9748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8A0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30-min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Walk through your current vendor list, approval matrix and pain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269748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974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8A0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Tailored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Show EpiCenter on a sandbox configured to look like your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9748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974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8A07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6-week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Two domains, ten vendors, real HRQs — measure TAT and conversion uplift.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269748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194560"/>
            <a:ext cx="269748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8A07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Roll-out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B212C"/>
                </a:solidFill>
                <a:latin typeface="Calibri"/>
              </a:rPr>
              <a:t>Pricing, integration plan and rollout calendar built off pilot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790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Ready to start the conversation?  Let's set up a 30-min discovery this week.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Recruitment Operating System for GCCs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58A07"/>
                </a:solidFill>
                <a:latin typeface="Calibri"/>
              </a:rPr>
              <a:t>EpiCenter — built for the way GCCs actually hire.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8A07"/>
                </a:solidFill>
                <a:latin typeface="Calibri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Set up a 30-minute discovery call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Request a tailored demo on your vendor list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Scope a 6-week pilot with measurable TAT goals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